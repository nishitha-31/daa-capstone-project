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1430000" cy="9677400"/>
  <p:notesSz cx="6858000" cy="9144000"/>
  <p:embeddedFontLst>
    <p:embeddedFont>
      <p:font typeface="Open Sans" charset="1" panose="020B0606030504020204"/>
      <p:regular r:id="rId17"/>
    </p:embeddedFont>
    <p:embeddedFont>
      <p:font typeface="Inter" charset="1" panose="02000503000000020004"/>
      <p:regular r:id="rId18"/>
    </p:embeddedFont>
    <p:embeddedFont>
      <p:font typeface="Inter Bold" charset="1" panose="0200050300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619202"/>
            <a:ext cx="4286250" cy="6438643"/>
            <a:chOff x="0" y="0"/>
            <a:chExt cx="5715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5" t="-3" r="-25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86325" y="3796046"/>
            <a:ext cx="5333400" cy="2075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3375" spc="23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Efficient Suitcase Packing Using Backtracking Algorithm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Design and Analysis of Algorithms 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61759" y="6717440"/>
            <a:ext cx="3206830" cy="1083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sz="186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NAME: Nishitha Penagaluru </a:t>
            </a:r>
          </a:p>
          <a:p>
            <a:pPr algn="ctr">
              <a:lnSpc>
                <a:spcPts val="2997"/>
              </a:lnSpc>
            </a:pPr>
            <a:r>
              <a:rPr lang="en-US" sz="186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ROLL NO.: ch.sc.u4cse24031</a:t>
            </a:r>
          </a:p>
          <a:p>
            <a:pPr algn="ctr">
              <a:lnSpc>
                <a:spcPts val="299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95248"/>
            <a:ext cx="4286250" cy="7086600"/>
            <a:chOff x="0" y="0"/>
            <a:chExt cx="5715000" cy="944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5000" cy="9448800"/>
            </a:xfrm>
            <a:custGeom>
              <a:avLst/>
              <a:gdLst/>
              <a:ahLst/>
              <a:cxnLst/>
              <a:rect r="r" b="b" t="t" l="l"/>
              <a:pathLst>
                <a:path h="94488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9448800"/>
                  </a:lnTo>
                  <a:lnTo>
                    <a:pt x="0" y="944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2" t="0" r="-5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377692" y="3962248"/>
            <a:ext cx="3502654" cy="2244719"/>
            <a:chOff x="0" y="0"/>
            <a:chExt cx="3358436" cy="21522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0778" y="66021"/>
              <a:ext cx="3216879" cy="2020253"/>
            </a:xfrm>
            <a:custGeom>
              <a:avLst/>
              <a:gdLst/>
              <a:ahLst/>
              <a:cxnLst/>
              <a:rect r="r" b="b" t="t" l="l"/>
              <a:pathLst>
                <a:path h="2020253" w="3216879">
                  <a:moveTo>
                    <a:pt x="0" y="1997938"/>
                  </a:moveTo>
                  <a:lnTo>
                    <a:pt x="0" y="22316"/>
                  </a:lnTo>
                  <a:cubicBezTo>
                    <a:pt x="0" y="19411"/>
                    <a:pt x="567" y="16506"/>
                    <a:pt x="1841" y="13733"/>
                  </a:cubicBezTo>
                  <a:cubicBezTo>
                    <a:pt x="3115" y="10960"/>
                    <a:pt x="4813" y="8583"/>
                    <a:pt x="6937" y="6470"/>
                  </a:cubicBezTo>
                  <a:cubicBezTo>
                    <a:pt x="9060" y="4358"/>
                    <a:pt x="11750" y="2773"/>
                    <a:pt x="14722" y="1717"/>
                  </a:cubicBezTo>
                  <a:cubicBezTo>
                    <a:pt x="17695" y="661"/>
                    <a:pt x="20668" y="0"/>
                    <a:pt x="23924" y="0"/>
                  </a:cubicBezTo>
                  <a:lnTo>
                    <a:pt x="3192956" y="0"/>
                  </a:lnTo>
                  <a:cubicBezTo>
                    <a:pt x="3196071" y="0"/>
                    <a:pt x="3199185" y="528"/>
                    <a:pt x="3202157" y="1717"/>
                  </a:cubicBezTo>
                  <a:cubicBezTo>
                    <a:pt x="3205130" y="2905"/>
                    <a:pt x="3207678" y="4490"/>
                    <a:pt x="3209943" y="6470"/>
                  </a:cubicBezTo>
                  <a:cubicBezTo>
                    <a:pt x="3212208" y="8451"/>
                    <a:pt x="3213906" y="10960"/>
                    <a:pt x="3215039" y="13733"/>
                  </a:cubicBezTo>
                  <a:cubicBezTo>
                    <a:pt x="3216171" y="16506"/>
                    <a:pt x="3216879" y="19279"/>
                    <a:pt x="3216879" y="22316"/>
                  </a:cubicBezTo>
                  <a:lnTo>
                    <a:pt x="3216879" y="1997938"/>
                  </a:lnTo>
                  <a:cubicBezTo>
                    <a:pt x="3216879" y="2000843"/>
                    <a:pt x="3216313" y="2003748"/>
                    <a:pt x="3215039" y="2006521"/>
                  </a:cubicBezTo>
                  <a:cubicBezTo>
                    <a:pt x="3213765" y="2009293"/>
                    <a:pt x="3212067" y="2011670"/>
                    <a:pt x="3209943" y="2013783"/>
                  </a:cubicBezTo>
                  <a:cubicBezTo>
                    <a:pt x="3207820" y="2015896"/>
                    <a:pt x="3205130" y="2017480"/>
                    <a:pt x="3202157" y="2018536"/>
                  </a:cubicBezTo>
                  <a:cubicBezTo>
                    <a:pt x="3199185" y="2019593"/>
                    <a:pt x="3196212" y="2020253"/>
                    <a:pt x="3192956" y="2020253"/>
                  </a:cubicBezTo>
                  <a:lnTo>
                    <a:pt x="23924" y="2020253"/>
                  </a:lnTo>
                  <a:cubicBezTo>
                    <a:pt x="20809" y="2020253"/>
                    <a:pt x="17695" y="2019725"/>
                    <a:pt x="14722" y="2018536"/>
                  </a:cubicBezTo>
                  <a:cubicBezTo>
                    <a:pt x="11750" y="2017348"/>
                    <a:pt x="9202" y="2015764"/>
                    <a:pt x="6937" y="2013783"/>
                  </a:cubicBezTo>
                  <a:cubicBezTo>
                    <a:pt x="4672" y="2011802"/>
                    <a:pt x="2973" y="2009293"/>
                    <a:pt x="1841" y="2006521"/>
                  </a:cubicBezTo>
                  <a:cubicBezTo>
                    <a:pt x="708" y="2003748"/>
                    <a:pt x="0" y="2000975"/>
                    <a:pt x="0" y="1997938"/>
                  </a:cubicBezTo>
                </a:path>
              </a:pathLst>
            </a:custGeom>
            <a:solidFill>
              <a:srgbClr val="434348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61880" y="244147"/>
              <a:ext cx="573305" cy="534773"/>
            </a:xfrm>
            <a:custGeom>
              <a:avLst/>
              <a:gdLst/>
              <a:ahLst/>
              <a:cxnLst/>
              <a:rect r="r" b="b" t="t" l="l"/>
              <a:pathLst>
                <a:path h="534773" w="573305">
                  <a:moveTo>
                    <a:pt x="0" y="267518"/>
                  </a:moveTo>
                  <a:cubicBezTo>
                    <a:pt x="0" y="258804"/>
                    <a:pt x="425" y="249957"/>
                    <a:pt x="1416" y="241242"/>
                  </a:cubicBezTo>
                  <a:cubicBezTo>
                    <a:pt x="2407" y="232527"/>
                    <a:pt x="3681" y="223812"/>
                    <a:pt x="5521" y="215229"/>
                  </a:cubicBezTo>
                  <a:cubicBezTo>
                    <a:pt x="7361" y="206647"/>
                    <a:pt x="9626" y="198196"/>
                    <a:pt x="12316" y="189745"/>
                  </a:cubicBezTo>
                  <a:cubicBezTo>
                    <a:pt x="15005" y="181294"/>
                    <a:pt x="18261" y="173108"/>
                    <a:pt x="21800" y="165053"/>
                  </a:cubicBezTo>
                  <a:cubicBezTo>
                    <a:pt x="25339" y="156999"/>
                    <a:pt x="29444" y="149076"/>
                    <a:pt x="33832" y="141286"/>
                  </a:cubicBezTo>
                  <a:cubicBezTo>
                    <a:pt x="38220" y="133495"/>
                    <a:pt x="43033" y="126101"/>
                    <a:pt x="48271" y="118838"/>
                  </a:cubicBezTo>
                  <a:cubicBezTo>
                    <a:pt x="53509" y="111576"/>
                    <a:pt x="59029" y="104578"/>
                    <a:pt x="64975" y="97711"/>
                  </a:cubicBezTo>
                  <a:cubicBezTo>
                    <a:pt x="70920" y="90845"/>
                    <a:pt x="77290" y="84507"/>
                    <a:pt x="83802" y="78301"/>
                  </a:cubicBezTo>
                  <a:cubicBezTo>
                    <a:pt x="90313" y="72095"/>
                    <a:pt x="97391" y="66285"/>
                    <a:pt x="104611" y="60607"/>
                  </a:cubicBezTo>
                  <a:cubicBezTo>
                    <a:pt x="111830" y="54930"/>
                    <a:pt x="119333" y="49912"/>
                    <a:pt x="127260" y="45026"/>
                  </a:cubicBezTo>
                  <a:cubicBezTo>
                    <a:pt x="135187" y="40141"/>
                    <a:pt x="143114" y="35651"/>
                    <a:pt x="151324" y="31558"/>
                  </a:cubicBezTo>
                  <a:cubicBezTo>
                    <a:pt x="159535" y="27465"/>
                    <a:pt x="168028" y="23636"/>
                    <a:pt x="176805" y="20334"/>
                  </a:cubicBezTo>
                  <a:cubicBezTo>
                    <a:pt x="185581" y="17033"/>
                    <a:pt x="194358" y="13996"/>
                    <a:pt x="203276" y="11488"/>
                  </a:cubicBezTo>
                  <a:cubicBezTo>
                    <a:pt x="212194" y="8979"/>
                    <a:pt x="221395" y="6866"/>
                    <a:pt x="230596" y="5150"/>
                  </a:cubicBezTo>
                  <a:cubicBezTo>
                    <a:pt x="239797" y="3433"/>
                    <a:pt x="249140" y="2113"/>
                    <a:pt x="258483" y="1320"/>
                  </a:cubicBezTo>
                  <a:cubicBezTo>
                    <a:pt x="267826" y="528"/>
                    <a:pt x="277168" y="0"/>
                    <a:pt x="286653" y="0"/>
                  </a:cubicBezTo>
                  <a:cubicBezTo>
                    <a:pt x="296137" y="0"/>
                    <a:pt x="305480" y="396"/>
                    <a:pt x="314823" y="1320"/>
                  </a:cubicBezTo>
                  <a:cubicBezTo>
                    <a:pt x="324165" y="2245"/>
                    <a:pt x="333508" y="3433"/>
                    <a:pt x="342568" y="5150"/>
                  </a:cubicBezTo>
                  <a:cubicBezTo>
                    <a:pt x="351627" y="6866"/>
                    <a:pt x="360829" y="8979"/>
                    <a:pt x="369888" y="11488"/>
                  </a:cubicBezTo>
                  <a:cubicBezTo>
                    <a:pt x="378948" y="13996"/>
                    <a:pt x="387724" y="17033"/>
                    <a:pt x="396359" y="20334"/>
                  </a:cubicBezTo>
                  <a:cubicBezTo>
                    <a:pt x="404994" y="23636"/>
                    <a:pt x="413488" y="27465"/>
                    <a:pt x="421839" y="31558"/>
                  </a:cubicBezTo>
                  <a:cubicBezTo>
                    <a:pt x="430191" y="35651"/>
                    <a:pt x="438119" y="40141"/>
                    <a:pt x="445904" y="45026"/>
                  </a:cubicBezTo>
                  <a:cubicBezTo>
                    <a:pt x="453690" y="49912"/>
                    <a:pt x="461192" y="55062"/>
                    <a:pt x="468553" y="60607"/>
                  </a:cubicBezTo>
                  <a:cubicBezTo>
                    <a:pt x="475914" y="66153"/>
                    <a:pt x="482709" y="72095"/>
                    <a:pt x="489362" y="78301"/>
                  </a:cubicBezTo>
                  <a:cubicBezTo>
                    <a:pt x="496015" y="84507"/>
                    <a:pt x="502244" y="90977"/>
                    <a:pt x="508331" y="97711"/>
                  </a:cubicBezTo>
                  <a:cubicBezTo>
                    <a:pt x="514418" y="104446"/>
                    <a:pt x="519797" y="111444"/>
                    <a:pt x="525034" y="118838"/>
                  </a:cubicBezTo>
                  <a:cubicBezTo>
                    <a:pt x="530272" y="126233"/>
                    <a:pt x="535085" y="133627"/>
                    <a:pt x="539473" y="141286"/>
                  </a:cubicBezTo>
                  <a:cubicBezTo>
                    <a:pt x="543862" y="148944"/>
                    <a:pt x="547967" y="156867"/>
                    <a:pt x="551506" y="165053"/>
                  </a:cubicBezTo>
                  <a:cubicBezTo>
                    <a:pt x="555044" y="173240"/>
                    <a:pt x="558300" y="181426"/>
                    <a:pt x="560990" y="189745"/>
                  </a:cubicBezTo>
                  <a:cubicBezTo>
                    <a:pt x="563679" y="198064"/>
                    <a:pt x="565944" y="206647"/>
                    <a:pt x="567785" y="215229"/>
                  </a:cubicBezTo>
                  <a:cubicBezTo>
                    <a:pt x="569625" y="223812"/>
                    <a:pt x="571040" y="232527"/>
                    <a:pt x="571890" y="241242"/>
                  </a:cubicBezTo>
                  <a:cubicBezTo>
                    <a:pt x="572739" y="249957"/>
                    <a:pt x="573305" y="258671"/>
                    <a:pt x="573305" y="267518"/>
                  </a:cubicBezTo>
                  <a:cubicBezTo>
                    <a:pt x="573305" y="276365"/>
                    <a:pt x="572881" y="284948"/>
                    <a:pt x="571890" y="293795"/>
                  </a:cubicBezTo>
                  <a:cubicBezTo>
                    <a:pt x="570899" y="302642"/>
                    <a:pt x="569625" y="311092"/>
                    <a:pt x="567785" y="319675"/>
                  </a:cubicBezTo>
                  <a:cubicBezTo>
                    <a:pt x="565944" y="328258"/>
                    <a:pt x="563679" y="336709"/>
                    <a:pt x="560990" y="345159"/>
                  </a:cubicBezTo>
                  <a:cubicBezTo>
                    <a:pt x="558300" y="353610"/>
                    <a:pt x="555044" y="361797"/>
                    <a:pt x="551506" y="369851"/>
                  </a:cubicBezTo>
                  <a:cubicBezTo>
                    <a:pt x="547967" y="377906"/>
                    <a:pt x="543862" y="385829"/>
                    <a:pt x="539473" y="393619"/>
                  </a:cubicBezTo>
                  <a:cubicBezTo>
                    <a:pt x="535085" y="401410"/>
                    <a:pt x="530272" y="408804"/>
                    <a:pt x="525034" y="416066"/>
                  </a:cubicBezTo>
                  <a:cubicBezTo>
                    <a:pt x="519797" y="423329"/>
                    <a:pt x="514276" y="430327"/>
                    <a:pt x="508331" y="437193"/>
                  </a:cubicBezTo>
                  <a:cubicBezTo>
                    <a:pt x="502385" y="444059"/>
                    <a:pt x="496015" y="450397"/>
                    <a:pt x="489362" y="456603"/>
                  </a:cubicBezTo>
                  <a:cubicBezTo>
                    <a:pt x="482709" y="462809"/>
                    <a:pt x="475773" y="468619"/>
                    <a:pt x="468553" y="474165"/>
                  </a:cubicBezTo>
                  <a:cubicBezTo>
                    <a:pt x="461334" y="479711"/>
                    <a:pt x="453831" y="484993"/>
                    <a:pt x="445904" y="489746"/>
                  </a:cubicBezTo>
                  <a:cubicBezTo>
                    <a:pt x="437977" y="494500"/>
                    <a:pt x="430050" y="499121"/>
                    <a:pt x="421839" y="503214"/>
                  </a:cubicBezTo>
                  <a:cubicBezTo>
                    <a:pt x="413629" y="507308"/>
                    <a:pt x="405136" y="511137"/>
                    <a:pt x="396359" y="514438"/>
                  </a:cubicBezTo>
                  <a:cubicBezTo>
                    <a:pt x="387583" y="517739"/>
                    <a:pt x="378806" y="520776"/>
                    <a:pt x="369888" y="523285"/>
                  </a:cubicBezTo>
                  <a:cubicBezTo>
                    <a:pt x="360970" y="525794"/>
                    <a:pt x="351769" y="527906"/>
                    <a:pt x="342568" y="529623"/>
                  </a:cubicBezTo>
                  <a:cubicBezTo>
                    <a:pt x="333366" y="531340"/>
                    <a:pt x="324165" y="532660"/>
                    <a:pt x="314823" y="533452"/>
                  </a:cubicBezTo>
                  <a:cubicBezTo>
                    <a:pt x="305480" y="534244"/>
                    <a:pt x="296137" y="534773"/>
                    <a:pt x="286653" y="534773"/>
                  </a:cubicBezTo>
                  <a:cubicBezTo>
                    <a:pt x="277168" y="534773"/>
                    <a:pt x="267967" y="534377"/>
                    <a:pt x="258483" y="533452"/>
                  </a:cubicBezTo>
                  <a:cubicBezTo>
                    <a:pt x="248999" y="532528"/>
                    <a:pt x="239939" y="531340"/>
                    <a:pt x="230596" y="529623"/>
                  </a:cubicBezTo>
                  <a:cubicBezTo>
                    <a:pt x="221253" y="527906"/>
                    <a:pt x="212335" y="525794"/>
                    <a:pt x="203276" y="523285"/>
                  </a:cubicBezTo>
                  <a:cubicBezTo>
                    <a:pt x="194216" y="520776"/>
                    <a:pt x="185440" y="517739"/>
                    <a:pt x="176805" y="514438"/>
                  </a:cubicBezTo>
                  <a:cubicBezTo>
                    <a:pt x="168170" y="511137"/>
                    <a:pt x="159676" y="507308"/>
                    <a:pt x="151324" y="503214"/>
                  </a:cubicBezTo>
                  <a:cubicBezTo>
                    <a:pt x="142973" y="499121"/>
                    <a:pt x="135045" y="494632"/>
                    <a:pt x="127260" y="489746"/>
                  </a:cubicBezTo>
                  <a:cubicBezTo>
                    <a:pt x="119474" y="484861"/>
                    <a:pt x="111972" y="479711"/>
                    <a:pt x="104611" y="474165"/>
                  </a:cubicBezTo>
                  <a:cubicBezTo>
                    <a:pt x="97250" y="468619"/>
                    <a:pt x="90455" y="462677"/>
                    <a:pt x="83802" y="456603"/>
                  </a:cubicBezTo>
                  <a:cubicBezTo>
                    <a:pt x="77149" y="450529"/>
                    <a:pt x="70920" y="443927"/>
                    <a:pt x="64975" y="437193"/>
                  </a:cubicBezTo>
                  <a:cubicBezTo>
                    <a:pt x="59029" y="430459"/>
                    <a:pt x="53367" y="423461"/>
                    <a:pt x="48271" y="416066"/>
                  </a:cubicBezTo>
                  <a:cubicBezTo>
                    <a:pt x="43175" y="408672"/>
                    <a:pt x="38220" y="401278"/>
                    <a:pt x="33832" y="393619"/>
                  </a:cubicBezTo>
                  <a:cubicBezTo>
                    <a:pt x="29444" y="385961"/>
                    <a:pt x="25339" y="378038"/>
                    <a:pt x="21800" y="369851"/>
                  </a:cubicBezTo>
                  <a:cubicBezTo>
                    <a:pt x="18261" y="361665"/>
                    <a:pt x="15005" y="353478"/>
                    <a:pt x="12316" y="345159"/>
                  </a:cubicBezTo>
                  <a:cubicBezTo>
                    <a:pt x="9626" y="336841"/>
                    <a:pt x="7361" y="328258"/>
                    <a:pt x="5521" y="319675"/>
                  </a:cubicBezTo>
                  <a:cubicBezTo>
                    <a:pt x="3681" y="311092"/>
                    <a:pt x="2265" y="302510"/>
                    <a:pt x="1416" y="293795"/>
                  </a:cubicBezTo>
                  <a:cubicBezTo>
                    <a:pt x="566" y="285080"/>
                    <a:pt x="0" y="276365"/>
                    <a:pt x="0" y="267518"/>
                  </a:cubicBezTo>
                </a:path>
              </a:pathLst>
            </a:custGeom>
            <a:solidFill>
              <a:srgbClr val="FDC4C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15469" y="576361"/>
              <a:ext cx="14190" cy="28690"/>
            </a:xfrm>
            <a:custGeom>
              <a:avLst/>
              <a:gdLst/>
              <a:ahLst/>
              <a:cxnLst/>
              <a:rect r="r" b="b" t="t" l="l"/>
              <a:pathLst>
                <a:path h="28690" w="14190">
                  <a:moveTo>
                    <a:pt x="5096" y="27866"/>
                  </a:moveTo>
                  <a:cubicBezTo>
                    <a:pt x="4530" y="27602"/>
                    <a:pt x="3964" y="27206"/>
                    <a:pt x="3398" y="26678"/>
                  </a:cubicBezTo>
                  <a:cubicBezTo>
                    <a:pt x="2407" y="25886"/>
                    <a:pt x="1557" y="24961"/>
                    <a:pt x="991" y="23773"/>
                  </a:cubicBezTo>
                  <a:cubicBezTo>
                    <a:pt x="708" y="23377"/>
                    <a:pt x="567" y="22849"/>
                    <a:pt x="425" y="22452"/>
                  </a:cubicBezTo>
                  <a:cubicBezTo>
                    <a:pt x="142" y="21924"/>
                    <a:pt x="0" y="21264"/>
                    <a:pt x="0" y="20604"/>
                  </a:cubicBezTo>
                  <a:lnTo>
                    <a:pt x="0" y="5419"/>
                  </a:lnTo>
                  <a:cubicBezTo>
                    <a:pt x="0" y="2514"/>
                    <a:pt x="2548" y="137"/>
                    <a:pt x="5663" y="5"/>
                  </a:cubicBezTo>
                  <a:cubicBezTo>
                    <a:pt x="8777" y="-127"/>
                    <a:pt x="11325" y="2382"/>
                    <a:pt x="11466" y="5287"/>
                  </a:cubicBezTo>
                  <a:lnTo>
                    <a:pt x="11466" y="20472"/>
                  </a:lnTo>
                  <a:lnTo>
                    <a:pt x="5804" y="20472"/>
                  </a:lnTo>
                  <a:lnTo>
                    <a:pt x="11183" y="18623"/>
                  </a:lnTo>
                  <a:cubicBezTo>
                    <a:pt x="11325" y="18755"/>
                    <a:pt x="11325" y="18887"/>
                    <a:pt x="11325" y="18887"/>
                  </a:cubicBezTo>
                  <a:cubicBezTo>
                    <a:pt x="11325" y="18887"/>
                    <a:pt x="11042" y="18623"/>
                    <a:pt x="11042" y="18491"/>
                  </a:cubicBezTo>
                  <a:cubicBezTo>
                    <a:pt x="11042" y="18359"/>
                    <a:pt x="11183" y="18623"/>
                    <a:pt x="11608" y="18887"/>
                  </a:cubicBezTo>
                  <a:cubicBezTo>
                    <a:pt x="14298" y="20472"/>
                    <a:pt x="15005" y="23773"/>
                    <a:pt x="13165" y="26282"/>
                  </a:cubicBezTo>
                  <a:cubicBezTo>
                    <a:pt x="11325" y="28790"/>
                    <a:pt x="7927" y="29451"/>
                    <a:pt x="5238" y="2773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15463" y="522752"/>
              <a:ext cx="11619" cy="14931"/>
            </a:xfrm>
            <a:custGeom>
              <a:avLst/>
              <a:gdLst/>
              <a:ahLst/>
              <a:cxnLst/>
              <a:rect r="r" b="b" t="t" l="l"/>
              <a:pathLst>
                <a:path h="14931" w="11619">
                  <a:moveTo>
                    <a:pt x="6" y="9380"/>
                  </a:moveTo>
                  <a:lnTo>
                    <a:pt x="148" y="5155"/>
                  </a:lnTo>
                  <a:cubicBezTo>
                    <a:pt x="289" y="2250"/>
                    <a:pt x="2837" y="-127"/>
                    <a:pt x="6093" y="5"/>
                  </a:cubicBezTo>
                  <a:cubicBezTo>
                    <a:pt x="9349" y="137"/>
                    <a:pt x="11755" y="2514"/>
                    <a:pt x="11614" y="5551"/>
                  </a:cubicBezTo>
                  <a:lnTo>
                    <a:pt x="11472" y="9776"/>
                  </a:lnTo>
                  <a:cubicBezTo>
                    <a:pt x="11331" y="12681"/>
                    <a:pt x="8783" y="15058"/>
                    <a:pt x="5527" y="14926"/>
                  </a:cubicBezTo>
                  <a:cubicBezTo>
                    <a:pt x="2271" y="14794"/>
                    <a:pt x="-135" y="12417"/>
                    <a:pt x="6" y="938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9127" y="493007"/>
              <a:ext cx="140794" cy="70195"/>
            </a:xfrm>
            <a:custGeom>
              <a:avLst/>
              <a:gdLst/>
              <a:ahLst/>
              <a:cxnLst/>
              <a:rect r="r" b="b" t="t" l="l"/>
              <a:pathLst>
                <a:path h="70195" w="140794">
                  <a:moveTo>
                    <a:pt x="132540" y="69627"/>
                  </a:moveTo>
                  <a:lnTo>
                    <a:pt x="3157" y="10076"/>
                  </a:lnTo>
                  <a:cubicBezTo>
                    <a:pt x="326" y="8755"/>
                    <a:pt x="-806" y="5586"/>
                    <a:pt x="609" y="2945"/>
                  </a:cubicBezTo>
                  <a:cubicBezTo>
                    <a:pt x="2025" y="304"/>
                    <a:pt x="5422" y="-752"/>
                    <a:pt x="8253" y="568"/>
                  </a:cubicBezTo>
                  <a:lnTo>
                    <a:pt x="137636" y="60120"/>
                  </a:lnTo>
                  <a:cubicBezTo>
                    <a:pt x="140467" y="61440"/>
                    <a:pt x="141600" y="64609"/>
                    <a:pt x="140184" y="67250"/>
                  </a:cubicBezTo>
                  <a:cubicBezTo>
                    <a:pt x="138769" y="69891"/>
                    <a:pt x="135371" y="70947"/>
                    <a:pt x="132540" y="696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08553" y="552599"/>
              <a:ext cx="12032" cy="81734"/>
            </a:xfrm>
            <a:custGeom>
              <a:avLst/>
              <a:gdLst/>
              <a:ahLst/>
              <a:cxnLst/>
              <a:rect r="r" b="b" t="t" l="l"/>
              <a:pathLst>
                <a:path h="81734" w="12032">
                  <a:moveTo>
                    <a:pt x="566" y="76452"/>
                  </a:moveTo>
                  <a:lnTo>
                    <a:pt x="0" y="5413"/>
                  </a:lnTo>
                  <a:cubicBezTo>
                    <a:pt x="0" y="2508"/>
                    <a:pt x="2548" y="0"/>
                    <a:pt x="5662" y="0"/>
                  </a:cubicBezTo>
                  <a:cubicBezTo>
                    <a:pt x="8776" y="0"/>
                    <a:pt x="11466" y="2376"/>
                    <a:pt x="11466" y="5281"/>
                  </a:cubicBezTo>
                  <a:lnTo>
                    <a:pt x="12032" y="76320"/>
                  </a:lnTo>
                  <a:cubicBezTo>
                    <a:pt x="12032" y="79225"/>
                    <a:pt x="9484" y="81734"/>
                    <a:pt x="6370" y="81734"/>
                  </a:cubicBezTo>
                  <a:cubicBezTo>
                    <a:pt x="3256" y="81734"/>
                    <a:pt x="566" y="79357"/>
                    <a:pt x="566" y="764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44291" y="593034"/>
              <a:ext cx="75580" cy="41533"/>
            </a:xfrm>
            <a:custGeom>
              <a:avLst/>
              <a:gdLst/>
              <a:ahLst/>
              <a:cxnLst/>
              <a:rect r="r" b="b" t="t" l="l"/>
              <a:pathLst>
                <a:path h="41533" w="75580">
                  <a:moveTo>
                    <a:pt x="67235" y="40903"/>
                  </a:moveTo>
                  <a:lnTo>
                    <a:pt x="3109" y="10005"/>
                  </a:lnTo>
                  <a:cubicBezTo>
                    <a:pt x="278" y="8684"/>
                    <a:pt x="-854" y="5383"/>
                    <a:pt x="703" y="2874"/>
                  </a:cubicBezTo>
                  <a:cubicBezTo>
                    <a:pt x="2260" y="366"/>
                    <a:pt x="5657" y="-823"/>
                    <a:pt x="8347" y="630"/>
                  </a:cubicBezTo>
                  <a:lnTo>
                    <a:pt x="72472" y="31528"/>
                  </a:lnTo>
                  <a:cubicBezTo>
                    <a:pt x="75303" y="32848"/>
                    <a:pt x="76436" y="36149"/>
                    <a:pt x="74879" y="38658"/>
                  </a:cubicBezTo>
                  <a:cubicBezTo>
                    <a:pt x="73321" y="41167"/>
                    <a:pt x="69924" y="42355"/>
                    <a:pt x="67235" y="4090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44144" y="451982"/>
              <a:ext cx="11466" cy="151717"/>
            </a:xfrm>
            <a:custGeom>
              <a:avLst/>
              <a:gdLst/>
              <a:ahLst/>
              <a:cxnLst/>
              <a:rect r="r" b="b" t="t" l="l"/>
              <a:pathLst>
                <a:path h="151717" w="11466">
                  <a:moveTo>
                    <a:pt x="142" y="146435"/>
                  </a:moveTo>
                  <a:lnTo>
                    <a:pt x="0" y="5282"/>
                  </a:lnTo>
                  <a:cubicBezTo>
                    <a:pt x="0" y="2377"/>
                    <a:pt x="2548" y="0"/>
                    <a:pt x="5663" y="0"/>
                  </a:cubicBezTo>
                  <a:cubicBezTo>
                    <a:pt x="8777" y="0"/>
                    <a:pt x="11325" y="2377"/>
                    <a:pt x="11325" y="5282"/>
                  </a:cubicBezTo>
                  <a:lnTo>
                    <a:pt x="11467" y="146435"/>
                  </a:lnTo>
                  <a:cubicBezTo>
                    <a:pt x="11467" y="149340"/>
                    <a:pt x="8919" y="151717"/>
                    <a:pt x="5804" y="151717"/>
                  </a:cubicBezTo>
                  <a:cubicBezTo>
                    <a:pt x="2690" y="151717"/>
                    <a:pt x="142" y="149340"/>
                    <a:pt x="142" y="14643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15568" y="522717"/>
              <a:ext cx="75678" cy="40486"/>
            </a:xfrm>
            <a:custGeom>
              <a:avLst/>
              <a:gdLst/>
              <a:ahLst/>
              <a:cxnLst/>
              <a:rect r="r" b="b" t="t" l="l"/>
              <a:pathLst>
                <a:path h="40486" w="75678">
                  <a:moveTo>
                    <a:pt x="67424" y="39917"/>
                  </a:moveTo>
                  <a:lnTo>
                    <a:pt x="3157" y="10075"/>
                  </a:lnTo>
                  <a:cubicBezTo>
                    <a:pt x="326" y="8755"/>
                    <a:pt x="-806" y="5586"/>
                    <a:pt x="609" y="2945"/>
                  </a:cubicBezTo>
                  <a:cubicBezTo>
                    <a:pt x="2025" y="304"/>
                    <a:pt x="5422" y="-752"/>
                    <a:pt x="8253" y="568"/>
                  </a:cubicBezTo>
                  <a:lnTo>
                    <a:pt x="72520" y="30410"/>
                  </a:lnTo>
                  <a:cubicBezTo>
                    <a:pt x="75351" y="31730"/>
                    <a:pt x="76484" y="34899"/>
                    <a:pt x="75068" y="37540"/>
                  </a:cubicBezTo>
                  <a:cubicBezTo>
                    <a:pt x="73652" y="40181"/>
                    <a:pt x="70255" y="41237"/>
                    <a:pt x="67424" y="3991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9878" y="552599"/>
              <a:ext cx="11466" cy="81602"/>
            </a:xfrm>
            <a:custGeom>
              <a:avLst/>
              <a:gdLst/>
              <a:ahLst/>
              <a:cxnLst/>
              <a:rect r="r" b="b" t="t" l="l"/>
              <a:pathLst>
                <a:path h="81602" w="11466">
                  <a:moveTo>
                    <a:pt x="141" y="76320"/>
                  </a:moveTo>
                  <a:lnTo>
                    <a:pt x="0" y="5281"/>
                  </a:lnTo>
                  <a:cubicBezTo>
                    <a:pt x="0" y="2376"/>
                    <a:pt x="2548" y="0"/>
                    <a:pt x="5662" y="0"/>
                  </a:cubicBezTo>
                  <a:cubicBezTo>
                    <a:pt x="8776" y="0"/>
                    <a:pt x="11324" y="2376"/>
                    <a:pt x="11324" y="5281"/>
                  </a:cubicBezTo>
                  <a:lnTo>
                    <a:pt x="11466" y="76320"/>
                  </a:lnTo>
                  <a:cubicBezTo>
                    <a:pt x="11466" y="79225"/>
                    <a:pt x="8918" y="81602"/>
                    <a:pt x="5803" y="81602"/>
                  </a:cubicBezTo>
                  <a:cubicBezTo>
                    <a:pt x="2689" y="81602"/>
                    <a:pt x="141" y="79225"/>
                    <a:pt x="141" y="7632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73244" y="522757"/>
              <a:ext cx="11466" cy="80810"/>
            </a:xfrm>
            <a:custGeom>
              <a:avLst/>
              <a:gdLst/>
              <a:ahLst/>
              <a:cxnLst/>
              <a:rect r="r" b="b" t="t" l="l"/>
              <a:pathLst>
                <a:path h="80810" w="11466">
                  <a:moveTo>
                    <a:pt x="142" y="75528"/>
                  </a:moveTo>
                  <a:lnTo>
                    <a:pt x="0" y="5282"/>
                  </a:lnTo>
                  <a:cubicBezTo>
                    <a:pt x="0" y="2377"/>
                    <a:pt x="2548" y="0"/>
                    <a:pt x="5663" y="0"/>
                  </a:cubicBezTo>
                  <a:cubicBezTo>
                    <a:pt x="8777" y="0"/>
                    <a:pt x="11325" y="2377"/>
                    <a:pt x="11325" y="5282"/>
                  </a:cubicBezTo>
                  <a:lnTo>
                    <a:pt x="11466" y="75528"/>
                  </a:lnTo>
                  <a:cubicBezTo>
                    <a:pt x="11466" y="78433"/>
                    <a:pt x="8918" y="80810"/>
                    <a:pt x="5804" y="80810"/>
                  </a:cubicBezTo>
                  <a:cubicBezTo>
                    <a:pt x="2690" y="80810"/>
                    <a:pt x="142" y="78433"/>
                    <a:pt x="142" y="7552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09217" y="592831"/>
              <a:ext cx="75678" cy="41410"/>
            </a:xfrm>
            <a:custGeom>
              <a:avLst/>
              <a:gdLst/>
              <a:ahLst/>
              <a:cxnLst/>
              <a:rect r="r" b="b" t="t" l="l"/>
              <a:pathLst>
                <a:path h="41410" w="75678">
                  <a:moveTo>
                    <a:pt x="72521" y="10076"/>
                  </a:moveTo>
                  <a:lnTo>
                    <a:pt x="8254" y="40842"/>
                  </a:lnTo>
                  <a:cubicBezTo>
                    <a:pt x="5423" y="42162"/>
                    <a:pt x="2025" y="41106"/>
                    <a:pt x="610" y="38465"/>
                  </a:cubicBezTo>
                  <a:cubicBezTo>
                    <a:pt x="-806" y="35824"/>
                    <a:pt x="327" y="32655"/>
                    <a:pt x="3158" y="31335"/>
                  </a:cubicBezTo>
                  <a:lnTo>
                    <a:pt x="67425" y="569"/>
                  </a:lnTo>
                  <a:cubicBezTo>
                    <a:pt x="70256" y="-752"/>
                    <a:pt x="73653" y="305"/>
                    <a:pt x="75069" y="2945"/>
                  </a:cubicBezTo>
                  <a:cubicBezTo>
                    <a:pt x="76484" y="5586"/>
                    <a:pt x="75352" y="8755"/>
                    <a:pt x="72521" y="100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08368" y="522717"/>
              <a:ext cx="76244" cy="40486"/>
            </a:xfrm>
            <a:custGeom>
              <a:avLst/>
              <a:gdLst/>
              <a:ahLst/>
              <a:cxnLst/>
              <a:rect r="r" b="b" t="t" l="l"/>
              <a:pathLst>
                <a:path h="40486" w="76244">
                  <a:moveTo>
                    <a:pt x="73087" y="10075"/>
                  </a:moveTo>
                  <a:lnTo>
                    <a:pt x="8254" y="39917"/>
                  </a:lnTo>
                  <a:cubicBezTo>
                    <a:pt x="5422" y="41237"/>
                    <a:pt x="2025" y="40181"/>
                    <a:pt x="609" y="37540"/>
                  </a:cubicBezTo>
                  <a:cubicBezTo>
                    <a:pt x="-806" y="34899"/>
                    <a:pt x="326" y="31730"/>
                    <a:pt x="3158" y="30410"/>
                  </a:cubicBezTo>
                  <a:lnTo>
                    <a:pt x="67991" y="568"/>
                  </a:lnTo>
                  <a:cubicBezTo>
                    <a:pt x="70822" y="-752"/>
                    <a:pt x="74219" y="304"/>
                    <a:pt x="75635" y="2945"/>
                  </a:cubicBezTo>
                  <a:cubicBezTo>
                    <a:pt x="77050" y="5586"/>
                    <a:pt x="75918" y="8755"/>
                    <a:pt x="73087" y="100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80118" y="592963"/>
              <a:ext cx="75678" cy="41278"/>
            </a:xfrm>
            <a:custGeom>
              <a:avLst/>
              <a:gdLst/>
              <a:ahLst/>
              <a:cxnLst/>
              <a:rect r="r" b="b" t="t" l="l"/>
              <a:pathLst>
                <a:path h="41278" w="75678">
                  <a:moveTo>
                    <a:pt x="72520" y="10208"/>
                  </a:moveTo>
                  <a:lnTo>
                    <a:pt x="8253" y="40710"/>
                  </a:lnTo>
                  <a:cubicBezTo>
                    <a:pt x="5422" y="42030"/>
                    <a:pt x="2025" y="40974"/>
                    <a:pt x="609" y="38333"/>
                  </a:cubicBezTo>
                  <a:cubicBezTo>
                    <a:pt x="-807" y="35692"/>
                    <a:pt x="326" y="32523"/>
                    <a:pt x="3157" y="31203"/>
                  </a:cubicBezTo>
                  <a:lnTo>
                    <a:pt x="67424" y="569"/>
                  </a:lnTo>
                  <a:cubicBezTo>
                    <a:pt x="70255" y="-752"/>
                    <a:pt x="73652" y="305"/>
                    <a:pt x="75068" y="2946"/>
                  </a:cubicBezTo>
                  <a:cubicBezTo>
                    <a:pt x="76483" y="5586"/>
                    <a:pt x="75351" y="8755"/>
                    <a:pt x="72520" y="100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79834" y="493271"/>
              <a:ext cx="140652" cy="69931"/>
            </a:xfrm>
            <a:custGeom>
              <a:avLst/>
              <a:gdLst/>
              <a:ahLst/>
              <a:cxnLst/>
              <a:rect r="r" b="b" t="t" l="l"/>
              <a:pathLst>
                <a:path h="69931" w="140652">
                  <a:moveTo>
                    <a:pt x="137495" y="10076"/>
                  </a:moveTo>
                  <a:lnTo>
                    <a:pt x="8254" y="69363"/>
                  </a:lnTo>
                  <a:cubicBezTo>
                    <a:pt x="5423" y="70683"/>
                    <a:pt x="2025" y="69627"/>
                    <a:pt x="610" y="66986"/>
                  </a:cubicBezTo>
                  <a:cubicBezTo>
                    <a:pt x="-806" y="64345"/>
                    <a:pt x="327" y="61176"/>
                    <a:pt x="3158" y="59856"/>
                  </a:cubicBezTo>
                  <a:lnTo>
                    <a:pt x="132399" y="569"/>
                  </a:lnTo>
                  <a:cubicBezTo>
                    <a:pt x="135230" y="-752"/>
                    <a:pt x="138628" y="304"/>
                    <a:pt x="140043" y="2945"/>
                  </a:cubicBezTo>
                  <a:cubicBezTo>
                    <a:pt x="141459" y="5586"/>
                    <a:pt x="140326" y="8755"/>
                    <a:pt x="137495" y="100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09024" y="493223"/>
              <a:ext cx="75640" cy="39526"/>
            </a:xfrm>
            <a:custGeom>
              <a:avLst/>
              <a:gdLst/>
              <a:ahLst/>
              <a:cxnLst/>
              <a:rect r="r" b="b" t="t" l="l"/>
              <a:pathLst>
                <a:path h="39526" w="75640">
                  <a:moveTo>
                    <a:pt x="67476" y="39041"/>
                  </a:moveTo>
                  <a:lnTo>
                    <a:pt x="3209" y="10124"/>
                  </a:lnTo>
                  <a:cubicBezTo>
                    <a:pt x="378" y="8803"/>
                    <a:pt x="-754" y="5634"/>
                    <a:pt x="520" y="2993"/>
                  </a:cubicBezTo>
                  <a:cubicBezTo>
                    <a:pt x="1794" y="352"/>
                    <a:pt x="5333" y="-704"/>
                    <a:pt x="8164" y="485"/>
                  </a:cubicBezTo>
                  <a:lnTo>
                    <a:pt x="72431" y="29402"/>
                  </a:lnTo>
                  <a:cubicBezTo>
                    <a:pt x="75262" y="30722"/>
                    <a:pt x="76394" y="33891"/>
                    <a:pt x="75120" y="36532"/>
                  </a:cubicBezTo>
                  <a:cubicBezTo>
                    <a:pt x="73846" y="39173"/>
                    <a:pt x="70307" y="40229"/>
                    <a:pt x="67476" y="3904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415568" y="493007"/>
              <a:ext cx="74970" cy="40486"/>
            </a:xfrm>
            <a:custGeom>
              <a:avLst/>
              <a:gdLst/>
              <a:ahLst/>
              <a:cxnLst/>
              <a:rect r="r" b="b" t="t" l="l"/>
              <a:pathLst>
                <a:path h="40486" w="74970">
                  <a:moveTo>
                    <a:pt x="71812" y="10076"/>
                  </a:moveTo>
                  <a:lnTo>
                    <a:pt x="8253" y="39917"/>
                  </a:lnTo>
                  <a:cubicBezTo>
                    <a:pt x="5422" y="41238"/>
                    <a:pt x="2025" y="40181"/>
                    <a:pt x="609" y="37540"/>
                  </a:cubicBezTo>
                  <a:cubicBezTo>
                    <a:pt x="-806" y="34900"/>
                    <a:pt x="326" y="31730"/>
                    <a:pt x="3157" y="30410"/>
                  </a:cubicBezTo>
                  <a:lnTo>
                    <a:pt x="66716" y="568"/>
                  </a:lnTo>
                  <a:cubicBezTo>
                    <a:pt x="69547" y="-752"/>
                    <a:pt x="72945" y="304"/>
                    <a:pt x="74360" y="2945"/>
                  </a:cubicBezTo>
                  <a:cubicBezTo>
                    <a:pt x="75776" y="5586"/>
                    <a:pt x="74643" y="8755"/>
                    <a:pt x="71812" y="100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08977" y="422008"/>
              <a:ext cx="11466" cy="81866"/>
            </a:xfrm>
            <a:custGeom>
              <a:avLst/>
              <a:gdLst/>
              <a:ahLst/>
              <a:cxnLst/>
              <a:rect r="r" b="b" t="t" l="l"/>
              <a:pathLst>
                <a:path h="81866" w="11466">
                  <a:moveTo>
                    <a:pt x="142" y="76585"/>
                  </a:moveTo>
                  <a:lnTo>
                    <a:pt x="0" y="5282"/>
                  </a:lnTo>
                  <a:cubicBezTo>
                    <a:pt x="0" y="2377"/>
                    <a:pt x="2548" y="0"/>
                    <a:pt x="5663" y="0"/>
                  </a:cubicBezTo>
                  <a:cubicBezTo>
                    <a:pt x="8777" y="0"/>
                    <a:pt x="11325" y="2377"/>
                    <a:pt x="11325" y="5282"/>
                  </a:cubicBezTo>
                  <a:lnTo>
                    <a:pt x="11467" y="76585"/>
                  </a:lnTo>
                  <a:cubicBezTo>
                    <a:pt x="11467" y="79490"/>
                    <a:pt x="8919" y="81867"/>
                    <a:pt x="5804" y="81867"/>
                  </a:cubicBezTo>
                  <a:cubicBezTo>
                    <a:pt x="2690" y="81867"/>
                    <a:pt x="142" y="79490"/>
                    <a:pt x="142" y="7658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544243" y="421968"/>
              <a:ext cx="76102" cy="40486"/>
            </a:xfrm>
            <a:custGeom>
              <a:avLst/>
              <a:gdLst/>
              <a:ahLst/>
              <a:cxnLst/>
              <a:rect r="r" b="b" t="t" l="l"/>
              <a:pathLst>
                <a:path h="40486" w="76102">
                  <a:moveTo>
                    <a:pt x="72945" y="10076"/>
                  </a:moveTo>
                  <a:lnTo>
                    <a:pt x="8253" y="39917"/>
                  </a:lnTo>
                  <a:cubicBezTo>
                    <a:pt x="5422" y="41238"/>
                    <a:pt x="2025" y="40181"/>
                    <a:pt x="609" y="37540"/>
                  </a:cubicBezTo>
                  <a:cubicBezTo>
                    <a:pt x="-806" y="34900"/>
                    <a:pt x="326" y="31731"/>
                    <a:pt x="3157" y="30410"/>
                  </a:cubicBezTo>
                  <a:lnTo>
                    <a:pt x="67849" y="569"/>
                  </a:lnTo>
                  <a:cubicBezTo>
                    <a:pt x="70680" y="-752"/>
                    <a:pt x="74077" y="304"/>
                    <a:pt x="75493" y="2945"/>
                  </a:cubicBezTo>
                  <a:cubicBezTo>
                    <a:pt x="76908" y="5586"/>
                    <a:pt x="75776" y="8755"/>
                    <a:pt x="72945" y="100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479127" y="421704"/>
              <a:ext cx="76527" cy="40750"/>
            </a:xfrm>
            <a:custGeom>
              <a:avLst/>
              <a:gdLst/>
              <a:ahLst/>
              <a:cxnLst/>
              <a:rect r="r" b="b" t="t" l="l"/>
              <a:pathLst>
                <a:path h="40750" w="76527">
                  <a:moveTo>
                    <a:pt x="68273" y="40181"/>
                  </a:moveTo>
                  <a:lnTo>
                    <a:pt x="3157" y="10076"/>
                  </a:lnTo>
                  <a:cubicBezTo>
                    <a:pt x="326" y="8755"/>
                    <a:pt x="-807" y="5586"/>
                    <a:pt x="609" y="2945"/>
                  </a:cubicBezTo>
                  <a:cubicBezTo>
                    <a:pt x="2025" y="304"/>
                    <a:pt x="5422" y="-752"/>
                    <a:pt x="8253" y="568"/>
                  </a:cubicBezTo>
                  <a:lnTo>
                    <a:pt x="73369" y="30674"/>
                  </a:lnTo>
                  <a:cubicBezTo>
                    <a:pt x="76200" y="31995"/>
                    <a:pt x="77333" y="35164"/>
                    <a:pt x="75917" y="37804"/>
                  </a:cubicBezTo>
                  <a:cubicBezTo>
                    <a:pt x="74502" y="40445"/>
                    <a:pt x="71104" y="41502"/>
                    <a:pt x="68273" y="401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479170" y="421744"/>
              <a:ext cx="11325" cy="81734"/>
            </a:xfrm>
            <a:custGeom>
              <a:avLst/>
              <a:gdLst/>
              <a:ahLst/>
              <a:cxnLst/>
              <a:rect r="r" b="b" t="t" l="l"/>
              <a:pathLst>
                <a:path h="81734" w="11325">
                  <a:moveTo>
                    <a:pt x="11324" y="5282"/>
                  </a:moveTo>
                  <a:lnTo>
                    <a:pt x="11324" y="76453"/>
                  </a:lnTo>
                  <a:cubicBezTo>
                    <a:pt x="11324" y="79358"/>
                    <a:pt x="8776" y="81735"/>
                    <a:pt x="5662" y="81735"/>
                  </a:cubicBezTo>
                  <a:cubicBezTo>
                    <a:pt x="2548" y="81735"/>
                    <a:pt x="0" y="79358"/>
                    <a:pt x="0" y="76453"/>
                  </a:cubicBezTo>
                  <a:lnTo>
                    <a:pt x="0" y="5282"/>
                  </a:lnTo>
                  <a:cubicBezTo>
                    <a:pt x="0" y="2377"/>
                    <a:pt x="2548" y="0"/>
                    <a:pt x="5662" y="0"/>
                  </a:cubicBezTo>
                  <a:cubicBezTo>
                    <a:pt x="8776" y="0"/>
                    <a:pt x="11324" y="2377"/>
                    <a:pt x="11324" y="528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417974" y="594416"/>
              <a:ext cx="73413" cy="39825"/>
            </a:xfrm>
            <a:custGeom>
              <a:avLst/>
              <a:gdLst/>
              <a:ahLst/>
              <a:cxnLst/>
              <a:rect r="r" b="b" t="t" l="l"/>
              <a:pathLst>
                <a:path h="39825" w="73413">
                  <a:moveTo>
                    <a:pt x="65159" y="39257"/>
                  </a:moveTo>
                  <a:lnTo>
                    <a:pt x="3158" y="10075"/>
                  </a:lnTo>
                  <a:cubicBezTo>
                    <a:pt x="326" y="8755"/>
                    <a:pt x="-806" y="5586"/>
                    <a:pt x="610" y="2945"/>
                  </a:cubicBezTo>
                  <a:cubicBezTo>
                    <a:pt x="2025" y="304"/>
                    <a:pt x="5422" y="-752"/>
                    <a:pt x="8254" y="568"/>
                  </a:cubicBezTo>
                  <a:lnTo>
                    <a:pt x="70256" y="29750"/>
                  </a:lnTo>
                  <a:cubicBezTo>
                    <a:pt x="73087" y="31070"/>
                    <a:pt x="74219" y="34239"/>
                    <a:pt x="72804" y="36880"/>
                  </a:cubicBezTo>
                  <a:cubicBezTo>
                    <a:pt x="71388" y="39521"/>
                    <a:pt x="67991" y="40577"/>
                    <a:pt x="65159" y="3925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479127" y="391730"/>
              <a:ext cx="76244" cy="40750"/>
            </a:xfrm>
            <a:custGeom>
              <a:avLst/>
              <a:gdLst/>
              <a:ahLst/>
              <a:cxnLst/>
              <a:rect r="r" b="b" t="t" l="l"/>
              <a:pathLst>
                <a:path h="40750" w="76244">
                  <a:moveTo>
                    <a:pt x="73086" y="10076"/>
                  </a:moveTo>
                  <a:lnTo>
                    <a:pt x="8253" y="40182"/>
                  </a:lnTo>
                  <a:cubicBezTo>
                    <a:pt x="5422" y="41502"/>
                    <a:pt x="2025" y="40446"/>
                    <a:pt x="609" y="37805"/>
                  </a:cubicBezTo>
                  <a:cubicBezTo>
                    <a:pt x="-807" y="35164"/>
                    <a:pt x="326" y="31995"/>
                    <a:pt x="3157" y="30674"/>
                  </a:cubicBezTo>
                  <a:lnTo>
                    <a:pt x="67990" y="569"/>
                  </a:lnTo>
                  <a:cubicBezTo>
                    <a:pt x="70821" y="-752"/>
                    <a:pt x="74219" y="305"/>
                    <a:pt x="75634" y="2945"/>
                  </a:cubicBezTo>
                  <a:cubicBezTo>
                    <a:pt x="77050" y="5586"/>
                    <a:pt x="75917" y="8755"/>
                    <a:pt x="73086" y="100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543846" y="391756"/>
              <a:ext cx="76471" cy="39905"/>
            </a:xfrm>
            <a:custGeom>
              <a:avLst/>
              <a:gdLst/>
              <a:ahLst/>
              <a:cxnLst/>
              <a:rect r="r" b="b" t="t" l="l"/>
              <a:pathLst>
                <a:path h="39905" w="76471">
                  <a:moveTo>
                    <a:pt x="68246" y="39363"/>
                  </a:moveTo>
                  <a:lnTo>
                    <a:pt x="3271" y="10182"/>
                  </a:lnTo>
                  <a:cubicBezTo>
                    <a:pt x="440" y="8861"/>
                    <a:pt x="-834" y="5692"/>
                    <a:pt x="582" y="3052"/>
                  </a:cubicBezTo>
                  <a:cubicBezTo>
                    <a:pt x="1997" y="411"/>
                    <a:pt x="5395" y="-778"/>
                    <a:pt x="8226" y="543"/>
                  </a:cubicBezTo>
                  <a:lnTo>
                    <a:pt x="73200" y="29724"/>
                  </a:lnTo>
                  <a:cubicBezTo>
                    <a:pt x="76031" y="31045"/>
                    <a:pt x="77305" y="34214"/>
                    <a:pt x="75890" y="36855"/>
                  </a:cubicBezTo>
                  <a:cubicBezTo>
                    <a:pt x="74474" y="39495"/>
                    <a:pt x="71077" y="40684"/>
                    <a:pt x="68246" y="3936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415469" y="526982"/>
              <a:ext cx="11325" cy="60079"/>
            </a:xfrm>
            <a:custGeom>
              <a:avLst/>
              <a:gdLst/>
              <a:ahLst/>
              <a:cxnLst/>
              <a:rect r="r" b="b" t="t" l="l"/>
              <a:pathLst>
                <a:path h="60079" w="11325">
                  <a:moveTo>
                    <a:pt x="0" y="54798"/>
                  </a:moveTo>
                  <a:lnTo>
                    <a:pt x="0" y="5282"/>
                  </a:lnTo>
                  <a:cubicBezTo>
                    <a:pt x="0" y="2377"/>
                    <a:pt x="2548" y="0"/>
                    <a:pt x="5663" y="0"/>
                  </a:cubicBezTo>
                  <a:cubicBezTo>
                    <a:pt x="8777" y="0"/>
                    <a:pt x="11325" y="2377"/>
                    <a:pt x="11325" y="5282"/>
                  </a:cubicBezTo>
                  <a:lnTo>
                    <a:pt x="11325" y="54798"/>
                  </a:lnTo>
                  <a:cubicBezTo>
                    <a:pt x="11325" y="57703"/>
                    <a:pt x="8777" y="60080"/>
                    <a:pt x="5663" y="60080"/>
                  </a:cubicBezTo>
                  <a:cubicBezTo>
                    <a:pt x="2548" y="60080"/>
                    <a:pt x="0" y="57703"/>
                    <a:pt x="0" y="5479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822822" y="6340316"/>
            <a:ext cx="6070597" cy="1803397"/>
            <a:chOff x="0" y="0"/>
            <a:chExt cx="6070600" cy="1803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63500" y="63500"/>
              <a:ext cx="5943727" cy="1676527"/>
            </a:xfrm>
            <a:custGeom>
              <a:avLst/>
              <a:gdLst/>
              <a:ahLst/>
              <a:cxnLst/>
              <a:rect r="r" b="b" t="t" l="l"/>
              <a:pathLst>
                <a:path h="1676527" w="5943727">
                  <a:moveTo>
                    <a:pt x="0" y="16549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335"/>
                  </a:cubicBezTo>
                  <a:cubicBezTo>
                    <a:pt x="2794" y="10795"/>
                    <a:pt x="4318" y="8382"/>
                    <a:pt x="6223" y="6350"/>
                  </a:cubicBezTo>
                  <a:cubicBezTo>
                    <a:pt x="8128" y="4318"/>
                    <a:pt x="10541" y="2794"/>
                    <a:pt x="13208" y="1778"/>
                  </a:cubicBezTo>
                  <a:cubicBezTo>
                    <a:pt x="15875" y="762"/>
                    <a:pt x="18542" y="0"/>
                    <a:pt x="21463" y="0"/>
                  </a:cubicBezTo>
                  <a:lnTo>
                    <a:pt x="5922137" y="0"/>
                  </a:lnTo>
                  <a:cubicBezTo>
                    <a:pt x="5924931" y="0"/>
                    <a:pt x="5927725" y="508"/>
                    <a:pt x="5930392" y="1651"/>
                  </a:cubicBezTo>
                  <a:cubicBezTo>
                    <a:pt x="5933059" y="2794"/>
                    <a:pt x="5935345" y="4318"/>
                    <a:pt x="5937377" y="6223"/>
                  </a:cubicBezTo>
                  <a:cubicBezTo>
                    <a:pt x="5939409" y="8128"/>
                    <a:pt x="5940933" y="10541"/>
                    <a:pt x="5942076" y="13208"/>
                  </a:cubicBezTo>
                  <a:cubicBezTo>
                    <a:pt x="5943219" y="15875"/>
                    <a:pt x="5943727" y="18542"/>
                    <a:pt x="5943727" y="21336"/>
                  </a:cubicBezTo>
                  <a:lnTo>
                    <a:pt x="5943727" y="1654937"/>
                  </a:lnTo>
                  <a:cubicBezTo>
                    <a:pt x="5943727" y="1657731"/>
                    <a:pt x="5943219" y="1660525"/>
                    <a:pt x="5942076" y="1663192"/>
                  </a:cubicBezTo>
                  <a:cubicBezTo>
                    <a:pt x="5940933" y="1665859"/>
                    <a:pt x="5939409" y="1668145"/>
                    <a:pt x="5937377" y="1670177"/>
                  </a:cubicBezTo>
                  <a:cubicBezTo>
                    <a:pt x="5935345" y="1672209"/>
                    <a:pt x="5933059" y="1673733"/>
                    <a:pt x="5930392" y="1674876"/>
                  </a:cubicBezTo>
                  <a:cubicBezTo>
                    <a:pt x="5927725" y="1676019"/>
                    <a:pt x="5925058" y="1676527"/>
                    <a:pt x="5922137" y="1676527"/>
                  </a:cubicBezTo>
                  <a:lnTo>
                    <a:pt x="21463" y="1676527"/>
                  </a:lnTo>
                  <a:cubicBezTo>
                    <a:pt x="18669" y="1676527"/>
                    <a:pt x="15875" y="1676019"/>
                    <a:pt x="13208" y="1674876"/>
                  </a:cubicBezTo>
                  <a:cubicBezTo>
                    <a:pt x="10541" y="1673733"/>
                    <a:pt x="8255" y="1672209"/>
                    <a:pt x="6223" y="1670177"/>
                  </a:cubicBezTo>
                  <a:cubicBezTo>
                    <a:pt x="4191" y="1668145"/>
                    <a:pt x="2667" y="1665859"/>
                    <a:pt x="1651" y="1663192"/>
                  </a:cubicBezTo>
                  <a:cubicBezTo>
                    <a:pt x="635" y="1660525"/>
                    <a:pt x="0" y="1657858"/>
                    <a:pt x="0" y="1654937"/>
                  </a:cubicBezTo>
                </a:path>
              </a:pathLst>
            </a:custGeom>
            <a:solidFill>
              <a:srgbClr val="43434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34950" y="234823"/>
              <a:ext cx="514350" cy="514477"/>
            </a:xfrm>
            <a:custGeom>
              <a:avLst/>
              <a:gdLst/>
              <a:ahLst/>
              <a:cxnLst/>
              <a:rect r="r" b="b" t="t" l="l"/>
              <a:pathLst>
                <a:path h="514477" w="514350">
                  <a:moveTo>
                    <a:pt x="0" y="257302"/>
                  </a:moveTo>
                  <a:cubicBezTo>
                    <a:pt x="0" y="248920"/>
                    <a:pt x="381" y="240538"/>
                    <a:pt x="1270" y="232029"/>
                  </a:cubicBezTo>
                  <a:cubicBezTo>
                    <a:pt x="2159" y="223520"/>
                    <a:pt x="3302" y="215265"/>
                    <a:pt x="4953" y="207010"/>
                  </a:cubicBezTo>
                  <a:cubicBezTo>
                    <a:pt x="6604" y="198755"/>
                    <a:pt x="8636" y="190627"/>
                    <a:pt x="11049" y="182499"/>
                  </a:cubicBezTo>
                  <a:cubicBezTo>
                    <a:pt x="13462" y="174371"/>
                    <a:pt x="16383" y="166497"/>
                    <a:pt x="19558" y="158750"/>
                  </a:cubicBezTo>
                  <a:cubicBezTo>
                    <a:pt x="22733" y="151003"/>
                    <a:pt x="26416" y="143383"/>
                    <a:pt x="30353" y="135890"/>
                  </a:cubicBezTo>
                  <a:cubicBezTo>
                    <a:pt x="34290" y="128397"/>
                    <a:pt x="38608" y="121285"/>
                    <a:pt x="43307" y="114300"/>
                  </a:cubicBezTo>
                  <a:cubicBezTo>
                    <a:pt x="48006" y="107315"/>
                    <a:pt x="52959" y="100584"/>
                    <a:pt x="58293" y="93980"/>
                  </a:cubicBezTo>
                  <a:cubicBezTo>
                    <a:pt x="63627" y="87376"/>
                    <a:pt x="69342" y="81280"/>
                    <a:pt x="75184" y="75311"/>
                  </a:cubicBezTo>
                  <a:cubicBezTo>
                    <a:pt x="81026" y="69342"/>
                    <a:pt x="87376" y="63754"/>
                    <a:pt x="93853" y="58293"/>
                  </a:cubicBezTo>
                  <a:cubicBezTo>
                    <a:pt x="100330" y="52832"/>
                    <a:pt x="107061" y="48006"/>
                    <a:pt x="114173" y="43307"/>
                  </a:cubicBezTo>
                  <a:cubicBezTo>
                    <a:pt x="121285" y="38608"/>
                    <a:pt x="128397" y="34290"/>
                    <a:pt x="135763" y="30353"/>
                  </a:cubicBezTo>
                  <a:cubicBezTo>
                    <a:pt x="143129" y="26416"/>
                    <a:pt x="150749" y="22733"/>
                    <a:pt x="158623" y="19558"/>
                  </a:cubicBezTo>
                  <a:cubicBezTo>
                    <a:pt x="166497" y="16383"/>
                    <a:pt x="174371" y="13462"/>
                    <a:pt x="182372" y="11049"/>
                  </a:cubicBezTo>
                  <a:cubicBezTo>
                    <a:pt x="190373" y="8636"/>
                    <a:pt x="198628" y="6604"/>
                    <a:pt x="206883" y="4953"/>
                  </a:cubicBezTo>
                  <a:cubicBezTo>
                    <a:pt x="215138" y="3302"/>
                    <a:pt x="223520" y="2032"/>
                    <a:pt x="231902" y="1270"/>
                  </a:cubicBezTo>
                  <a:cubicBezTo>
                    <a:pt x="240284" y="508"/>
                    <a:pt x="248666" y="0"/>
                    <a:pt x="257175" y="0"/>
                  </a:cubicBezTo>
                  <a:cubicBezTo>
                    <a:pt x="265684" y="0"/>
                    <a:pt x="274066" y="381"/>
                    <a:pt x="282448" y="1270"/>
                  </a:cubicBezTo>
                  <a:cubicBezTo>
                    <a:pt x="290830" y="2159"/>
                    <a:pt x="299212" y="3302"/>
                    <a:pt x="307340" y="4953"/>
                  </a:cubicBezTo>
                  <a:cubicBezTo>
                    <a:pt x="315468" y="6604"/>
                    <a:pt x="323723" y="8636"/>
                    <a:pt x="331851" y="11049"/>
                  </a:cubicBezTo>
                  <a:cubicBezTo>
                    <a:pt x="339979" y="13462"/>
                    <a:pt x="347853" y="16383"/>
                    <a:pt x="355600" y="19558"/>
                  </a:cubicBezTo>
                  <a:cubicBezTo>
                    <a:pt x="363347" y="22733"/>
                    <a:pt x="370967" y="26416"/>
                    <a:pt x="378460" y="30353"/>
                  </a:cubicBezTo>
                  <a:cubicBezTo>
                    <a:pt x="385953" y="34290"/>
                    <a:pt x="393065" y="38608"/>
                    <a:pt x="400050" y="43307"/>
                  </a:cubicBezTo>
                  <a:cubicBezTo>
                    <a:pt x="407035" y="48006"/>
                    <a:pt x="413766" y="52959"/>
                    <a:pt x="420370" y="58293"/>
                  </a:cubicBezTo>
                  <a:cubicBezTo>
                    <a:pt x="426974" y="63627"/>
                    <a:pt x="433070" y="69342"/>
                    <a:pt x="439039" y="75311"/>
                  </a:cubicBezTo>
                  <a:cubicBezTo>
                    <a:pt x="445008" y="81280"/>
                    <a:pt x="450596" y="87503"/>
                    <a:pt x="456057" y="93980"/>
                  </a:cubicBezTo>
                  <a:cubicBezTo>
                    <a:pt x="461518" y="100457"/>
                    <a:pt x="466344" y="107188"/>
                    <a:pt x="471043" y="114300"/>
                  </a:cubicBezTo>
                  <a:cubicBezTo>
                    <a:pt x="475742" y="121412"/>
                    <a:pt x="480060" y="128524"/>
                    <a:pt x="483997" y="135890"/>
                  </a:cubicBezTo>
                  <a:cubicBezTo>
                    <a:pt x="487934" y="143256"/>
                    <a:pt x="491617" y="150876"/>
                    <a:pt x="494792" y="158750"/>
                  </a:cubicBezTo>
                  <a:cubicBezTo>
                    <a:pt x="497967" y="166624"/>
                    <a:pt x="500888" y="174498"/>
                    <a:pt x="503301" y="182499"/>
                  </a:cubicBezTo>
                  <a:cubicBezTo>
                    <a:pt x="505714" y="190500"/>
                    <a:pt x="507746" y="198755"/>
                    <a:pt x="509397" y="207010"/>
                  </a:cubicBezTo>
                  <a:cubicBezTo>
                    <a:pt x="511048" y="215265"/>
                    <a:pt x="512318" y="223647"/>
                    <a:pt x="513080" y="232029"/>
                  </a:cubicBezTo>
                  <a:cubicBezTo>
                    <a:pt x="513842" y="240411"/>
                    <a:pt x="514350" y="248793"/>
                    <a:pt x="514350" y="257302"/>
                  </a:cubicBezTo>
                  <a:cubicBezTo>
                    <a:pt x="514350" y="265811"/>
                    <a:pt x="513969" y="274066"/>
                    <a:pt x="513080" y="282575"/>
                  </a:cubicBezTo>
                  <a:cubicBezTo>
                    <a:pt x="512191" y="291084"/>
                    <a:pt x="511048" y="299339"/>
                    <a:pt x="509397" y="307467"/>
                  </a:cubicBezTo>
                  <a:cubicBezTo>
                    <a:pt x="507746" y="315595"/>
                    <a:pt x="505714" y="323850"/>
                    <a:pt x="503301" y="331978"/>
                  </a:cubicBezTo>
                  <a:cubicBezTo>
                    <a:pt x="500888" y="340106"/>
                    <a:pt x="497967" y="347980"/>
                    <a:pt x="494792" y="355727"/>
                  </a:cubicBezTo>
                  <a:cubicBezTo>
                    <a:pt x="491617" y="363474"/>
                    <a:pt x="487934" y="371094"/>
                    <a:pt x="483997" y="378587"/>
                  </a:cubicBezTo>
                  <a:cubicBezTo>
                    <a:pt x="480060" y="386080"/>
                    <a:pt x="475742" y="393192"/>
                    <a:pt x="471043" y="400177"/>
                  </a:cubicBezTo>
                  <a:cubicBezTo>
                    <a:pt x="466344" y="407162"/>
                    <a:pt x="461391" y="413893"/>
                    <a:pt x="456057" y="420497"/>
                  </a:cubicBezTo>
                  <a:cubicBezTo>
                    <a:pt x="450723" y="427101"/>
                    <a:pt x="445008" y="433197"/>
                    <a:pt x="439039" y="439166"/>
                  </a:cubicBezTo>
                  <a:cubicBezTo>
                    <a:pt x="433070" y="445135"/>
                    <a:pt x="426847" y="450723"/>
                    <a:pt x="420370" y="456184"/>
                  </a:cubicBezTo>
                  <a:cubicBezTo>
                    <a:pt x="413893" y="461645"/>
                    <a:pt x="407162" y="466471"/>
                    <a:pt x="400050" y="471170"/>
                  </a:cubicBezTo>
                  <a:cubicBezTo>
                    <a:pt x="392938" y="475869"/>
                    <a:pt x="385826" y="480187"/>
                    <a:pt x="378460" y="484124"/>
                  </a:cubicBezTo>
                  <a:cubicBezTo>
                    <a:pt x="371094" y="488061"/>
                    <a:pt x="363474" y="491744"/>
                    <a:pt x="355600" y="494919"/>
                  </a:cubicBezTo>
                  <a:cubicBezTo>
                    <a:pt x="347726" y="498094"/>
                    <a:pt x="339852" y="501015"/>
                    <a:pt x="331851" y="503428"/>
                  </a:cubicBezTo>
                  <a:cubicBezTo>
                    <a:pt x="323850" y="505841"/>
                    <a:pt x="315595" y="507873"/>
                    <a:pt x="307340" y="509524"/>
                  </a:cubicBezTo>
                  <a:cubicBezTo>
                    <a:pt x="299085" y="511175"/>
                    <a:pt x="290830" y="512445"/>
                    <a:pt x="282448" y="513207"/>
                  </a:cubicBezTo>
                  <a:cubicBezTo>
                    <a:pt x="274066" y="513969"/>
                    <a:pt x="265684" y="514477"/>
                    <a:pt x="257175" y="514477"/>
                  </a:cubicBezTo>
                  <a:cubicBezTo>
                    <a:pt x="248666" y="514477"/>
                    <a:pt x="240411" y="514096"/>
                    <a:pt x="231902" y="513207"/>
                  </a:cubicBezTo>
                  <a:cubicBezTo>
                    <a:pt x="223393" y="512318"/>
                    <a:pt x="215265" y="511175"/>
                    <a:pt x="206883" y="509524"/>
                  </a:cubicBezTo>
                  <a:cubicBezTo>
                    <a:pt x="198501" y="507873"/>
                    <a:pt x="190500" y="505841"/>
                    <a:pt x="182372" y="503428"/>
                  </a:cubicBezTo>
                  <a:cubicBezTo>
                    <a:pt x="174244" y="501015"/>
                    <a:pt x="166370" y="498094"/>
                    <a:pt x="158623" y="494919"/>
                  </a:cubicBezTo>
                  <a:cubicBezTo>
                    <a:pt x="150876" y="491744"/>
                    <a:pt x="143256" y="488061"/>
                    <a:pt x="135763" y="484124"/>
                  </a:cubicBezTo>
                  <a:cubicBezTo>
                    <a:pt x="128270" y="480187"/>
                    <a:pt x="121158" y="475869"/>
                    <a:pt x="114173" y="471170"/>
                  </a:cubicBezTo>
                  <a:cubicBezTo>
                    <a:pt x="107188" y="466471"/>
                    <a:pt x="100457" y="461518"/>
                    <a:pt x="93853" y="456184"/>
                  </a:cubicBezTo>
                  <a:cubicBezTo>
                    <a:pt x="87249" y="450850"/>
                    <a:pt x="81153" y="445135"/>
                    <a:pt x="75184" y="439166"/>
                  </a:cubicBezTo>
                  <a:cubicBezTo>
                    <a:pt x="69215" y="433197"/>
                    <a:pt x="63627" y="426974"/>
                    <a:pt x="58293" y="420497"/>
                  </a:cubicBezTo>
                  <a:cubicBezTo>
                    <a:pt x="52959" y="414020"/>
                    <a:pt x="47879" y="407289"/>
                    <a:pt x="43307" y="400177"/>
                  </a:cubicBezTo>
                  <a:cubicBezTo>
                    <a:pt x="38735" y="393065"/>
                    <a:pt x="34290" y="385953"/>
                    <a:pt x="30353" y="378587"/>
                  </a:cubicBezTo>
                  <a:cubicBezTo>
                    <a:pt x="26416" y="371221"/>
                    <a:pt x="22733" y="363601"/>
                    <a:pt x="19558" y="355727"/>
                  </a:cubicBezTo>
                  <a:cubicBezTo>
                    <a:pt x="16383" y="347853"/>
                    <a:pt x="13462" y="339979"/>
                    <a:pt x="11049" y="331978"/>
                  </a:cubicBezTo>
                  <a:cubicBezTo>
                    <a:pt x="8636" y="323977"/>
                    <a:pt x="6604" y="315722"/>
                    <a:pt x="4953" y="307467"/>
                  </a:cubicBezTo>
                  <a:cubicBezTo>
                    <a:pt x="3302" y="299212"/>
                    <a:pt x="2032" y="290830"/>
                    <a:pt x="1270" y="282575"/>
                  </a:cubicBezTo>
                  <a:cubicBezTo>
                    <a:pt x="508" y="274320"/>
                    <a:pt x="0" y="265811"/>
                    <a:pt x="0" y="257302"/>
                  </a:cubicBezTo>
                </a:path>
              </a:pathLst>
            </a:custGeom>
            <a:solidFill>
              <a:srgbClr val="FDC4C4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373248" y="586100"/>
              <a:ext cx="31755" cy="28453"/>
            </a:xfrm>
            <a:custGeom>
              <a:avLst/>
              <a:gdLst/>
              <a:ahLst/>
              <a:cxnLst/>
              <a:rect r="r" b="b" t="t" l="l"/>
              <a:pathLst>
                <a:path h="28453" w="31755">
                  <a:moveTo>
                    <a:pt x="10419" y="4958"/>
                  </a:moveTo>
                  <a:cubicBezTo>
                    <a:pt x="10546" y="9149"/>
                    <a:pt x="11435" y="12070"/>
                    <a:pt x="12324" y="13594"/>
                  </a:cubicBezTo>
                  <a:lnTo>
                    <a:pt x="7752" y="16007"/>
                  </a:lnTo>
                  <a:lnTo>
                    <a:pt x="11943" y="12959"/>
                  </a:lnTo>
                  <a:cubicBezTo>
                    <a:pt x="12578" y="13721"/>
                    <a:pt x="14229" y="15626"/>
                    <a:pt x="15118" y="16261"/>
                  </a:cubicBezTo>
                  <a:lnTo>
                    <a:pt x="11943" y="20452"/>
                  </a:lnTo>
                  <a:lnTo>
                    <a:pt x="14610" y="15880"/>
                  </a:lnTo>
                  <a:cubicBezTo>
                    <a:pt x="16515" y="17023"/>
                    <a:pt x="18293" y="17531"/>
                    <a:pt x="19944" y="17785"/>
                  </a:cubicBezTo>
                  <a:lnTo>
                    <a:pt x="19309" y="22992"/>
                  </a:lnTo>
                  <a:lnTo>
                    <a:pt x="19309" y="17785"/>
                  </a:lnTo>
                  <a:lnTo>
                    <a:pt x="26548" y="17912"/>
                  </a:lnTo>
                  <a:cubicBezTo>
                    <a:pt x="29469" y="17912"/>
                    <a:pt x="31755" y="20325"/>
                    <a:pt x="31755" y="23246"/>
                  </a:cubicBezTo>
                  <a:cubicBezTo>
                    <a:pt x="31755" y="26167"/>
                    <a:pt x="29342" y="28453"/>
                    <a:pt x="26421" y="28453"/>
                  </a:cubicBezTo>
                  <a:lnTo>
                    <a:pt x="19182" y="28326"/>
                  </a:lnTo>
                  <a:cubicBezTo>
                    <a:pt x="19055" y="28326"/>
                    <a:pt x="18801" y="28326"/>
                    <a:pt x="18674" y="28326"/>
                  </a:cubicBezTo>
                  <a:cubicBezTo>
                    <a:pt x="15499" y="27945"/>
                    <a:pt x="12324" y="26929"/>
                    <a:pt x="9276" y="25151"/>
                  </a:cubicBezTo>
                  <a:cubicBezTo>
                    <a:pt x="9022" y="25024"/>
                    <a:pt x="8895" y="24897"/>
                    <a:pt x="8641" y="24770"/>
                  </a:cubicBezTo>
                  <a:cubicBezTo>
                    <a:pt x="7117" y="23500"/>
                    <a:pt x="4577" y="20960"/>
                    <a:pt x="3434" y="19309"/>
                  </a:cubicBezTo>
                  <a:cubicBezTo>
                    <a:pt x="3307" y="19055"/>
                    <a:pt x="3180" y="18928"/>
                    <a:pt x="3053" y="18674"/>
                  </a:cubicBezTo>
                  <a:cubicBezTo>
                    <a:pt x="1275" y="15372"/>
                    <a:pt x="132" y="10800"/>
                    <a:pt x="5" y="5466"/>
                  </a:cubicBezTo>
                  <a:cubicBezTo>
                    <a:pt x="-122" y="2545"/>
                    <a:pt x="2164" y="132"/>
                    <a:pt x="4958" y="5"/>
                  </a:cubicBezTo>
                  <a:cubicBezTo>
                    <a:pt x="7752" y="-122"/>
                    <a:pt x="10292" y="2164"/>
                    <a:pt x="10419" y="495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536062" y="583184"/>
              <a:ext cx="26929" cy="31374"/>
            </a:xfrm>
            <a:custGeom>
              <a:avLst/>
              <a:gdLst/>
              <a:ahLst/>
              <a:cxnLst/>
              <a:rect r="r" b="b" t="t" l="l"/>
              <a:pathLst>
                <a:path h="31374" w="26929">
                  <a:moveTo>
                    <a:pt x="4958" y="20828"/>
                  </a:moveTo>
                  <a:cubicBezTo>
                    <a:pt x="8260" y="20701"/>
                    <a:pt x="10165" y="20193"/>
                    <a:pt x="10800" y="19939"/>
                  </a:cubicBezTo>
                  <a:lnTo>
                    <a:pt x="12578" y="24892"/>
                  </a:lnTo>
                  <a:lnTo>
                    <a:pt x="10038" y="20320"/>
                  </a:lnTo>
                  <a:cubicBezTo>
                    <a:pt x="12070" y="19177"/>
                    <a:pt x="12832" y="18542"/>
                    <a:pt x="14610" y="16637"/>
                  </a:cubicBezTo>
                  <a:lnTo>
                    <a:pt x="18420" y="20193"/>
                  </a:lnTo>
                  <a:lnTo>
                    <a:pt x="13975" y="17399"/>
                  </a:lnTo>
                  <a:cubicBezTo>
                    <a:pt x="15245" y="15240"/>
                    <a:pt x="15626" y="14351"/>
                    <a:pt x="16261" y="12319"/>
                  </a:cubicBezTo>
                  <a:lnTo>
                    <a:pt x="21214" y="13843"/>
                  </a:lnTo>
                  <a:lnTo>
                    <a:pt x="16007" y="13208"/>
                  </a:lnTo>
                  <a:cubicBezTo>
                    <a:pt x="16134" y="11938"/>
                    <a:pt x="16261" y="9271"/>
                    <a:pt x="16388" y="5207"/>
                  </a:cubicBezTo>
                  <a:cubicBezTo>
                    <a:pt x="16388" y="2286"/>
                    <a:pt x="18801" y="0"/>
                    <a:pt x="21722" y="0"/>
                  </a:cubicBezTo>
                  <a:cubicBezTo>
                    <a:pt x="24643" y="0"/>
                    <a:pt x="26929" y="2413"/>
                    <a:pt x="26929" y="5334"/>
                  </a:cubicBezTo>
                  <a:cubicBezTo>
                    <a:pt x="26929" y="9398"/>
                    <a:pt x="26675" y="12446"/>
                    <a:pt x="26548" y="14478"/>
                  </a:cubicBezTo>
                  <a:cubicBezTo>
                    <a:pt x="26548" y="14732"/>
                    <a:pt x="26421" y="15113"/>
                    <a:pt x="26421" y="15367"/>
                  </a:cubicBezTo>
                  <a:cubicBezTo>
                    <a:pt x="25532" y="18415"/>
                    <a:pt x="24770" y="20066"/>
                    <a:pt x="22992" y="22987"/>
                  </a:cubicBezTo>
                  <a:cubicBezTo>
                    <a:pt x="22865" y="23241"/>
                    <a:pt x="22611" y="23495"/>
                    <a:pt x="22357" y="23749"/>
                  </a:cubicBezTo>
                  <a:cubicBezTo>
                    <a:pt x="19944" y="26416"/>
                    <a:pt x="18293" y="27686"/>
                    <a:pt x="15245" y="29464"/>
                  </a:cubicBezTo>
                  <a:cubicBezTo>
                    <a:pt x="14991" y="29591"/>
                    <a:pt x="14737" y="29718"/>
                    <a:pt x="14483" y="29845"/>
                  </a:cubicBezTo>
                  <a:cubicBezTo>
                    <a:pt x="12578" y="30607"/>
                    <a:pt x="9403" y="31242"/>
                    <a:pt x="5466" y="31369"/>
                  </a:cubicBezTo>
                  <a:cubicBezTo>
                    <a:pt x="2545" y="31496"/>
                    <a:pt x="132" y="29210"/>
                    <a:pt x="5" y="26416"/>
                  </a:cubicBezTo>
                  <a:cubicBezTo>
                    <a:pt x="-122" y="23622"/>
                    <a:pt x="2164" y="21082"/>
                    <a:pt x="4958" y="2095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538099" y="372491"/>
              <a:ext cx="76200" cy="10541"/>
            </a:xfrm>
            <a:custGeom>
              <a:avLst/>
              <a:gdLst/>
              <a:ahLst/>
              <a:cxnLst/>
              <a:rect r="r" b="b" t="t" l="l"/>
              <a:pathLst>
                <a:path h="10541" w="76200">
                  <a:moveTo>
                    <a:pt x="5207" y="127"/>
                  </a:moveTo>
                  <a:lnTo>
                    <a:pt x="70993" y="0"/>
                  </a:lnTo>
                  <a:cubicBezTo>
                    <a:pt x="73914" y="0"/>
                    <a:pt x="76200" y="2286"/>
                    <a:pt x="76200" y="5207"/>
                  </a:cubicBezTo>
                  <a:cubicBezTo>
                    <a:pt x="76200" y="8128"/>
                    <a:pt x="73914" y="10414"/>
                    <a:pt x="70993" y="10414"/>
                  </a:cubicBezTo>
                  <a:lnTo>
                    <a:pt x="5207" y="10541"/>
                  </a:lnTo>
                  <a:cubicBezTo>
                    <a:pt x="2286" y="10541"/>
                    <a:pt x="0" y="8255"/>
                    <a:pt x="0" y="5334"/>
                  </a:cubicBezTo>
                  <a:cubicBezTo>
                    <a:pt x="0" y="2413"/>
                    <a:pt x="2286" y="127"/>
                    <a:pt x="5207" y="1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481965" y="372618"/>
              <a:ext cx="132207" cy="132588"/>
            </a:xfrm>
            <a:custGeom>
              <a:avLst/>
              <a:gdLst/>
              <a:ahLst/>
              <a:cxnLst/>
              <a:rect r="r" b="b" t="t" l="l"/>
              <a:pathLst>
                <a:path h="132588" w="132207">
                  <a:moveTo>
                    <a:pt x="1524" y="123698"/>
                  </a:moveTo>
                  <a:lnTo>
                    <a:pt x="123317" y="1524"/>
                  </a:lnTo>
                  <a:cubicBezTo>
                    <a:pt x="125349" y="-508"/>
                    <a:pt x="128651" y="-508"/>
                    <a:pt x="130683" y="1524"/>
                  </a:cubicBezTo>
                  <a:cubicBezTo>
                    <a:pt x="132715" y="3556"/>
                    <a:pt x="132715" y="6858"/>
                    <a:pt x="130683" y="8890"/>
                  </a:cubicBezTo>
                  <a:lnTo>
                    <a:pt x="8890" y="131064"/>
                  </a:lnTo>
                  <a:cubicBezTo>
                    <a:pt x="6858" y="133096"/>
                    <a:pt x="3556" y="133096"/>
                    <a:pt x="1524" y="131064"/>
                  </a:cubicBezTo>
                  <a:cubicBezTo>
                    <a:pt x="-508" y="129032"/>
                    <a:pt x="-508" y="125730"/>
                    <a:pt x="1524" y="12369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603885" y="372618"/>
              <a:ext cx="10541" cy="76327"/>
            </a:xfrm>
            <a:custGeom>
              <a:avLst/>
              <a:gdLst/>
              <a:ahLst/>
              <a:cxnLst/>
              <a:rect r="r" b="b" t="t" l="l"/>
              <a:pathLst>
                <a:path h="76327" w="10541">
                  <a:moveTo>
                    <a:pt x="127" y="71120"/>
                  </a:moveTo>
                  <a:lnTo>
                    <a:pt x="0" y="5207"/>
                  </a:lnTo>
                  <a:cubicBezTo>
                    <a:pt x="0" y="2286"/>
                    <a:pt x="2286" y="0"/>
                    <a:pt x="5207" y="0"/>
                  </a:cubicBezTo>
                  <a:cubicBezTo>
                    <a:pt x="8128" y="0"/>
                    <a:pt x="10414" y="2286"/>
                    <a:pt x="10414" y="5207"/>
                  </a:cubicBezTo>
                  <a:lnTo>
                    <a:pt x="10541" y="71120"/>
                  </a:lnTo>
                  <a:cubicBezTo>
                    <a:pt x="10541" y="74041"/>
                    <a:pt x="8255" y="76327"/>
                    <a:pt x="5334" y="76327"/>
                  </a:cubicBezTo>
                  <a:cubicBezTo>
                    <a:pt x="2413" y="76327"/>
                    <a:pt x="127" y="74041"/>
                    <a:pt x="127" y="7112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389128" y="425831"/>
              <a:ext cx="101600" cy="10414"/>
            </a:xfrm>
            <a:custGeom>
              <a:avLst/>
              <a:gdLst/>
              <a:ahLst/>
              <a:cxnLst/>
              <a:rect r="r" b="b" t="t" l="l"/>
              <a:pathLst>
                <a:path h="10414" w="101600">
                  <a:moveTo>
                    <a:pt x="96393" y="10414"/>
                  </a:moveTo>
                  <a:lnTo>
                    <a:pt x="5207" y="10414"/>
                  </a:lnTo>
                  <a:cubicBezTo>
                    <a:pt x="2286" y="10414"/>
                    <a:pt x="0" y="8128"/>
                    <a:pt x="0" y="5207"/>
                  </a:cubicBezTo>
                  <a:cubicBezTo>
                    <a:pt x="0" y="2286"/>
                    <a:pt x="2286" y="0"/>
                    <a:pt x="5207" y="0"/>
                  </a:cubicBezTo>
                  <a:lnTo>
                    <a:pt x="96393" y="0"/>
                  </a:lnTo>
                  <a:cubicBezTo>
                    <a:pt x="99314" y="0"/>
                    <a:pt x="101600" y="2286"/>
                    <a:pt x="101600" y="5207"/>
                  </a:cubicBezTo>
                  <a:cubicBezTo>
                    <a:pt x="101600" y="8128"/>
                    <a:pt x="99314" y="10414"/>
                    <a:pt x="96393" y="1041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372611" y="425558"/>
              <a:ext cx="27078" cy="30440"/>
            </a:xfrm>
            <a:custGeom>
              <a:avLst/>
              <a:gdLst/>
              <a:ahLst/>
              <a:cxnLst/>
              <a:rect r="r" b="b" t="t" l="l"/>
              <a:pathLst>
                <a:path h="30440" w="27078">
                  <a:moveTo>
                    <a:pt x="21470" y="10560"/>
                  </a:moveTo>
                  <a:cubicBezTo>
                    <a:pt x="19819" y="10433"/>
                    <a:pt x="18168" y="10687"/>
                    <a:pt x="16644" y="11449"/>
                  </a:cubicBezTo>
                  <a:cubicBezTo>
                    <a:pt x="15120" y="12084"/>
                    <a:pt x="13850" y="13100"/>
                    <a:pt x="12707" y="14497"/>
                  </a:cubicBezTo>
                  <a:cubicBezTo>
                    <a:pt x="11691" y="15767"/>
                    <a:pt x="10929" y="17291"/>
                    <a:pt x="10675" y="18942"/>
                  </a:cubicBezTo>
                  <a:cubicBezTo>
                    <a:pt x="10294" y="20593"/>
                    <a:pt x="10421" y="22244"/>
                    <a:pt x="10929" y="23768"/>
                  </a:cubicBezTo>
                  <a:cubicBezTo>
                    <a:pt x="11691" y="26562"/>
                    <a:pt x="10167" y="29483"/>
                    <a:pt x="7373" y="30245"/>
                  </a:cubicBezTo>
                  <a:cubicBezTo>
                    <a:pt x="4579" y="31007"/>
                    <a:pt x="1658" y="29483"/>
                    <a:pt x="896" y="26689"/>
                  </a:cubicBezTo>
                  <a:cubicBezTo>
                    <a:pt x="-120" y="23387"/>
                    <a:pt x="-247" y="20085"/>
                    <a:pt x="388" y="16783"/>
                  </a:cubicBezTo>
                  <a:lnTo>
                    <a:pt x="5468" y="17799"/>
                  </a:lnTo>
                  <a:lnTo>
                    <a:pt x="388" y="16783"/>
                  </a:lnTo>
                  <a:cubicBezTo>
                    <a:pt x="1023" y="13481"/>
                    <a:pt x="2420" y="10433"/>
                    <a:pt x="4579" y="7766"/>
                  </a:cubicBezTo>
                  <a:lnTo>
                    <a:pt x="8643" y="11068"/>
                  </a:lnTo>
                  <a:lnTo>
                    <a:pt x="4579" y="7766"/>
                  </a:lnTo>
                  <a:cubicBezTo>
                    <a:pt x="6738" y="5099"/>
                    <a:pt x="9278" y="3067"/>
                    <a:pt x="12453" y="1797"/>
                  </a:cubicBezTo>
                  <a:lnTo>
                    <a:pt x="14612" y="6623"/>
                  </a:lnTo>
                  <a:lnTo>
                    <a:pt x="12453" y="1797"/>
                  </a:lnTo>
                  <a:cubicBezTo>
                    <a:pt x="15501" y="400"/>
                    <a:pt x="18803" y="-108"/>
                    <a:pt x="22232" y="19"/>
                  </a:cubicBezTo>
                  <a:cubicBezTo>
                    <a:pt x="25153" y="273"/>
                    <a:pt x="27312" y="2686"/>
                    <a:pt x="27058" y="5607"/>
                  </a:cubicBezTo>
                  <a:cubicBezTo>
                    <a:pt x="26804" y="8528"/>
                    <a:pt x="24391" y="10687"/>
                    <a:pt x="21470" y="1043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372872" y="445770"/>
              <a:ext cx="10668" cy="150749"/>
            </a:xfrm>
            <a:custGeom>
              <a:avLst/>
              <a:gdLst/>
              <a:ahLst/>
              <a:cxnLst/>
              <a:rect r="r" b="b" t="t" l="l"/>
              <a:pathLst>
                <a:path h="150749" w="10668">
                  <a:moveTo>
                    <a:pt x="10414" y="5207"/>
                  </a:moveTo>
                  <a:lnTo>
                    <a:pt x="10668" y="145542"/>
                  </a:lnTo>
                  <a:cubicBezTo>
                    <a:pt x="10668" y="148463"/>
                    <a:pt x="8382" y="150749"/>
                    <a:pt x="5461" y="150749"/>
                  </a:cubicBezTo>
                  <a:cubicBezTo>
                    <a:pt x="2540" y="150749"/>
                    <a:pt x="254" y="148463"/>
                    <a:pt x="254" y="145542"/>
                  </a:cubicBezTo>
                  <a:lnTo>
                    <a:pt x="0" y="5207"/>
                  </a:lnTo>
                  <a:cubicBezTo>
                    <a:pt x="0" y="2286"/>
                    <a:pt x="2286" y="0"/>
                    <a:pt x="5207" y="0"/>
                  </a:cubicBezTo>
                  <a:cubicBezTo>
                    <a:pt x="8128" y="0"/>
                    <a:pt x="10414" y="2286"/>
                    <a:pt x="10414" y="520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394462" y="603885"/>
              <a:ext cx="152019" cy="10541"/>
            </a:xfrm>
            <a:custGeom>
              <a:avLst/>
              <a:gdLst/>
              <a:ahLst/>
              <a:cxnLst/>
              <a:rect r="r" b="b" t="t" l="l"/>
              <a:pathLst>
                <a:path h="10541" w="152019">
                  <a:moveTo>
                    <a:pt x="5207" y="0"/>
                  </a:moveTo>
                  <a:lnTo>
                    <a:pt x="146812" y="127"/>
                  </a:lnTo>
                  <a:cubicBezTo>
                    <a:pt x="149733" y="127"/>
                    <a:pt x="152019" y="2413"/>
                    <a:pt x="152019" y="5334"/>
                  </a:cubicBezTo>
                  <a:cubicBezTo>
                    <a:pt x="152019" y="8255"/>
                    <a:pt x="149733" y="10541"/>
                    <a:pt x="146812" y="10541"/>
                  </a:cubicBezTo>
                  <a:lnTo>
                    <a:pt x="5207" y="10414"/>
                  </a:lnTo>
                  <a:cubicBezTo>
                    <a:pt x="2286" y="10414"/>
                    <a:pt x="0" y="8128"/>
                    <a:pt x="0" y="5207"/>
                  </a:cubicBezTo>
                  <a:cubicBezTo>
                    <a:pt x="0" y="2286"/>
                    <a:pt x="2286" y="0"/>
                    <a:pt x="520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552577" y="494538"/>
              <a:ext cx="10541" cy="99187"/>
            </a:xfrm>
            <a:custGeom>
              <a:avLst/>
              <a:gdLst/>
              <a:ahLst/>
              <a:cxnLst/>
              <a:rect r="r" b="b" t="t" l="l"/>
              <a:pathLst>
                <a:path h="99187" w="10541">
                  <a:moveTo>
                    <a:pt x="127" y="93980"/>
                  </a:moveTo>
                  <a:lnTo>
                    <a:pt x="0" y="5207"/>
                  </a:lnTo>
                  <a:cubicBezTo>
                    <a:pt x="0" y="2286"/>
                    <a:pt x="2286" y="0"/>
                    <a:pt x="5207" y="0"/>
                  </a:cubicBezTo>
                  <a:cubicBezTo>
                    <a:pt x="8128" y="0"/>
                    <a:pt x="10414" y="2286"/>
                    <a:pt x="10414" y="5207"/>
                  </a:cubicBezTo>
                  <a:lnTo>
                    <a:pt x="10541" y="93980"/>
                  </a:lnTo>
                  <a:cubicBezTo>
                    <a:pt x="10541" y="96901"/>
                    <a:pt x="8255" y="99187"/>
                    <a:pt x="5334" y="99187"/>
                  </a:cubicBezTo>
                  <a:cubicBezTo>
                    <a:pt x="2413" y="99187"/>
                    <a:pt x="127" y="96901"/>
                    <a:pt x="127" y="9398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880347" y="3962248"/>
            <a:ext cx="3425314" cy="2254173"/>
            <a:chOff x="0" y="0"/>
            <a:chExt cx="3013075" cy="198288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63500" y="60825"/>
              <a:ext cx="2886202" cy="1861233"/>
            </a:xfrm>
            <a:custGeom>
              <a:avLst/>
              <a:gdLst/>
              <a:ahLst/>
              <a:cxnLst/>
              <a:rect r="r" b="b" t="t" l="l"/>
              <a:pathLst>
                <a:path h="1861233" w="2886202">
                  <a:moveTo>
                    <a:pt x="0" y="1840674"/>
                  </a:moveTo>
                  <a:lnTo>
                    <a:pt x="0" y="20558"/>
                  </a:lnTo>
                  <a:cubicBezTo>
                    <a:pt x="0" y="17882"/>
                    <a:pt x="508" y="15206"/>
                    <a:pt x="1651" y="12651"/>
                  </a:cubicBezTo>
                  <a:cubicBezTo>
                    <a:pt x="2794" y="10096"/>
                    <a:pt x="4318" y="7907"/>
                    <a:pt x="6223" y="5960"/>
                  </a:cubicBezTo>
                  <a:cubicBezTo>
                    <a:pt x="8128" y="4014"/>
                    <a:pt x="10541" y="2554"/>
                    <a:pt x="13208" y="1581"/>
                  </a:cubicBezTo>
                  <a:cubicBezTo>
                    <a:pt x="15875" y="608"/>
                    <a:pt x="18542" y="0"/>
                    <a:pt x="21463" y="0"/>
                  </a:cubicBezTo>
                  <a:lnTo>
                    <a:pt x="2864612" y="0"/>
                  </a:lnTo>
                  <a:cubicBezTo>
                    <a:pt x="2867406" y="0"/>
                    <a:pt x="2870200" y="486"/>
                    <a:pt x="2872867" y="1581"/>
                  </a:cubicBezTo>
                  <a:cubicBezTo>
                    <a:pt x="2875534" y="2676"/>
                    <a:pt x="2877820" y="4136"/>
                    <a:pt x="2879852" y="5960"/>
                  </a:cubicBezTo>
                  <a:cubicBezTo>
                    <a:pt x="2881884" y="7785"/>
                    <a:pt x="2883408" y="10096"/>
                    <a:pt x="2884551" y="12651"/>
                  </a:cubicBezTo>
                  <a:cubicBezTo>
                    <a:pt x="2885694" y="15206"/>
                    <a:pt x="2886202" y="17760"/>
                    <a:pt x="2886202" y="20558"/>
                  </a:cubicBezTo>
                  <a:lnTo>
                    <a:pt x="2886202" y="1840674"/>
                  </a:lnTo>
                  <a:cubicBezTo>
                    <a:pt x="2886202" y="1843350"/>
                    <a:pt x="2885694" y="1846027"/>
                    <a:pt x="2884551" y="1848581"/>
                  </a:cubicBezTo>
                  <a:cubicBezTo>
                    <a:pt x="2883408" y="1851136"/>
                    <a:pt x="2881884" y="1853325"/>
                    <a:pt x="2879852" y="1855272"/>
                  </a:cubicBezTo>
                  <a:cubicBezTo>
                    <a:pt x="2877820" y="1857218"/>
                    <a:pt x="2875534" y="1858678"/>
                    <a:pt x="2872867" y="1859651"/>
                  </a:cubicBezTo>
                  <a:cubicBezTo>
                    <a:pt x="2870200" y="1860624"/>
                    <a:pt x="2867533" y="1861233"/>
                    <a:pt x="2864612" y="1861233"/>
                  </a:cubicBezTo>
                  <a:lnTo>
                    <a:pt x="21463" y="1861233"/>
                  </a:lnTo>
                  <a:cubicBezTo>
                    <a:pt x="18669" y="1861233"/>
                    <a:pt x="15875" y="1860746"/>
                    <a:pt x="13208" y="1859651"/>
                  </a:cubicBezTo>
                  <a:cubicBezTo>
                    <a:pt x="10541" y="1858556"/>
                    <a:pt x="8255" y="1857097"/>
                    <a:pt x="6223" y="1855272"/>
                  </a:cubicBezTo>
                  <a:cubicBezTo>
                    <a:pt x="4191" y="1853447"/>
                    <a:pt x="2667" y="1851136"/>
                    <a:pt x="1651" y="1848581"/>
                  </a:cubicBezTo>
                  <a:cubicBezTo>
                    <a:pt x="635" y="1846027"/>
                    <a:pt x="0" y="1843472"/>
                    <a:pt x="0" y="1840674"/>
                  </a:cubicBezTo>
                </a:path>
              </a:pathLst>
            </a:custGeom>
            <a:solidFill>
              <a:srgbClr val="434348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234950" y="224929"/>
              <a:ext cx="514223" cy="492679"/>
            </a:xfrm>
            <a:custGeom>
              <a:avLst/>
              <a:gdLst/>
              <a:ahLst/>
              <a:cxnLst/>
              <a:rect r="r" b="b" t="t" l="l"/>
              <a:pathLst>
                <a:path h="492679" w="514223">
                  <a:moveTo>
                    <a:pt x="0" y="246462"/>
                  </a:moveTo>
                  <a:cubicBezTo>
                    <a:pt x="0" y="238433"/>
                    <a:pt x="381" y="230282"/>
                    <a:pt x="1270" y="222254"/>
                  </a:cubicBezTo>
                  <a:cubicBezTo>
                    <a:pt x="2159" y="214225"/>
                    <a:pt x="3302" y="206196"/>
                    <a:pt x="4953" y="198289"/>
                  </a:cubicBezTo>
                  <a:cubicBezTo>
                    <a:pt x="6604" y="190381"/>
                    <a:pt x="8636" y="182596"/>
                    <a:pt x="11049" y="174810"/>
                  </a:cubicBezTo>
                  <a:cubicBezTo>
                    <a:pt x="13462" y="167025"/>
                    <a:pt x="16383" y="159483"/>
                    <a:pt x="19558" y="152062"/>
                  </a:cubicBezTo>
                  <a:cubicBezTo>
                    <a:pt x="22733" y="144641"/>
                    <a:pt x="26416" y="137342"/>
                    <a:pt x="30353" y="130165"/>
                  </a:cubicBezTo>
                  <a:cubicBezTo>
                    <a:pt x="34290" y="122988"/>
                    <a:pt x="38608" y="116175"/>
                    <a:pt x="43307" y="109485"/>
                  </a:cubicBezTo>
                  <a:cubicBezTo>
                    <a:pt x="48006" y="102794"/>
                    <a:pt x="52959" y="96347"/>
                    <a:pt x="58293" y="90021"/>
                  </a:cubicBezTo>
                  <a:cubicBezTo>
                    <a:pt x="63627" y="83695"/>
                    <a:pt x="69342" y="77856"/>
                    <a:pt x="75311" y="72138"/>
                  </a:cubicBezTo>
                  <a:cubicBezTo>
                    <a:pt x="81280" y="66421"/>
                    <a:pt x="87503" y="61068"/>
                    <a:pt x="93980" y="55837"/>
                  </a:cubicBezTo>
                  <a:cubicBezTo>
                    <a:pt x="100457" y="50606"/>
                    <a:pt x="107188" y="45984"/>
                    <a:pt x="114300" y="41483"/>
                  </a:cubicBezTo>
                  <a:cubicBezTo>
                    <a:pt x="121412" y="36982"/>
                    <a:pt x="128524" y="32846"/>
                    <a:pt x="135890" y="29075"/>
                  </a:cubicBezTo>
                  <a:cubicBezTo>
                    <a:pt x="143256" y="25303"/>
                    <a:pt x="150876" y="21776"/>
                    <a:pt x="158750" y="18734"/>
                  </a:cubicBezTo>
                  <a:cubicBezTo>
                    <a:pt x="166624" y="15693"/>
                    <a:pt x="174498" y="12895"/>
                    <a:pt x="182499" y="10584"/>
                  </a:cubicBezTo>
                  <a:cubicBezTo>
                    <a:pt x="190500" y="8273"/>
                    <a:pt x="198755" y="6326"/>
                    <a:pt x="207010" y="4745"/>
                  </a:cubicBezTo>
                  <a:cubicBezTo>
                    <a:pt x="215265" y="3163"/>
                    <a:pt x="223647" y="1947"/>
                    <a:pt x="232029" y="1217"/>
                  </a:cubicBezTo>
                  <a:cubicBezTo>
                    <a:pt x="240411" y="487"/>
                    <a:pt x="248793" y="0"/>
                    <a:pt x="257175" y="0"/>
                  </a:cubicBezTo>
                  <a:cubicBezTo>
                    <a:pt x="265557" y="0"/>
                    <a:pt x="274066" y="365"/>
                    <a:pt x="282448" y="1217"/>
                  </a:cubicBezTo>
                  <a:cubicBezTo>
                    <a:pt x="290830" y="2068"/>
                    <a:pt x="299085" y="3163"/>
                    <a:pt x="307340" y="4745"/>
                  </a:cubicBezTo>
                  <a:cubicBezTo>
                    <a:pt x="315595" y="6326"/>
                    <a:pt x="323723" y="8273"/>
                    <a:pt x="331851" y="10584"/>
                  </a:cubicBezTo>
                  <a:cubicBezTo>
                    <a:pt x="339979" y="12895"/>
                    <a:pt x="347853" y="15693"/>
                    <a:pt x="355600" y="18734"/>
                  </a:cubicBezTo>
                  <a:cubicBezTo>
                    <a:pt x="363347" y="21776"/>
                    <a:pt x="370967" y="25303"/>
                    <a:pt x="378460" y="29075"/>
                  </a:cubicBezTo>
                  <a:cubicBezTo>
                    <a:pt x="385953" y="32846"/>
                    <a:pt x="393065" y="36982"/>
                    <a:pt x="400050" y="41483"/>
                  </a:cubicBezTo>
                  <a:cubicBezTo>
                    <a:pt x="407035" y="45984"/>
                    <a:pt x="413766" y="50728"/>
                    <a:pt x="420370" y="55837"/>
                  </a:cubicBezTo>
                  <a:cubicBezTo>
                    <a:pt x="426974" y="60947"/>
                    <a:pt x="433070" y="66421"/>
                    <a:pt x="439039" y="72138"/>
                  </a:cubicBezTo>
                  <a:cubicBezTo>
                    <a:pt x="445008" y="77856"/>
                    <a:pt x="450596" y="83817"/>
                    <a:pt x="455930" y="90021"/>
                  </a:cubicBezTo>
                  <a:cubicBezTo>
                    <a:pt x="461264" y="96225"/>
                    <a:pt x="466344" y="102672"/>
                    <a:pt x="470916" y="109485"/>
                  </a:cubicBezTo>
                  <a:cubicBezTo>
                    <a:pt x="475488" y="116297"/>
                    <a:pt x="479933" y="123109"/>
                    <a:pt x="483870" y="130165"/>
                  </a:cubicBezTo>
                  <a:cubicBezTo>
                    <a:pt x="487807" y="137221"/>
                    <a:pt x="491490" y="144520"/>
                    <a:pt x="494665" y="152062"/>
                  </a:cubicBezTo>
                  <a:cubicBezTo>
                    <a:pt x="497840" y="159604"/>
                    <a:pt x="500761" y="167146"/>
                    <a:pt x="503174" y="174810"/>
                  </a:cubicBezTo>
                  <a:cubicBezTo>
                    <a:pt x="505587" y="182474"/>
                    <a:pt x="507619" y="190381"/>
                    <a:pt x="509270" y="198289"/>
                  </a:cubicBezTo>
                  <a:cubicBezTo>
                    <a:pt x="510921" y="206196"/>
                    <a:pt x="512191" y="214225"/>
                    <a:pt x="512953" y="222254"/>
                  </a:cubicBezTo>
                  <a:cubicBezTo>
                    <a:pt x="513715" y="230282"/>
                    <a:pt x="514223" y="238311"/>
                    <a:pt x="514223" y="246462"/>
                  </a:cubicBezTo>
                  <a:cubicBezTo>
                    <a:pt x="514223" y="254612"/>
                    <a:pt x="513842" y="262519"/>
                    <a:pt x="512953" y="270670"/>
                  </a:cubicBezTo>
                  <a:cubicBezTo>
                    <a:pt x="512064" y="278820"/>
                    <a:pt x="510921" y="286606"/>
                    <a:pt x="509270" y="294513"/>
                  </a:cubicBezTo>
                  <a:cubicBezTo>
                    <a:pt x="507619" y="302420"/>
                    <a:pt x="505587" y="310206"/>
                    <a:pt x="503174" y="317991"/>
                  </a:cubicBezTo>
                  <a:cubicBezTo>
                    <a:pt x="500761" y="325777"/>
                    <a:pt x="497840" y="333319"/>
                    <a:pt x="494665" y="340740"/>
                  </a:cubicBezTo>
                  <a:cubicBezTo>
                    <a:pt x="491490" y="348160"/>
                    <a:pt x="487807" y="355459"/>
                    <a:pt x="483870" y="362637"/>
                  </a:cubicBezTo>
                  <a:cubicBezTo>
                    <a:pt x="479933" y="369814"/>
                    <a:pt x="475615" y="376626"/>
                    <a:pt x="470916" y="383317"/>
                  </a:cubicBezTo>
                  <a:cubicBezTo>
                    <a:pt x="466217" y="390008"/>
                    <a:pt x="461264" y="396455"/>
                    <a:pt x="455930" y="402781"/>
                  </a:cubicBezTo>
                  <a:cubicBezTo>
                    <a:pt x="450596" y="409107"/>
                    <a:pt x="444881" y="414946"/>
                    <a:pt x="439039" y="420663"/>
                  </a:cubicBezTo>
                  <a:cubicBezTo>
                    <a:pt x="433197" y="426381"/>
                    <a:pt x="426847" y="431733"/>
                    <a:pt x="420370" y="436843"/>
                  </a:cubicBezTo>
                  <a:cubicBezTo>
                    <a:pt x="413893" y="441952"/>
                    <a:pt x="407162" y="446818"/>
                    <a:pt x="400050" y="451197"/>
                  </a:cubicBezTo>
                  <a:cubicBezTo>
                    <a:pt x="392938" y="455577"/>
                    <a:pt x="385826" y="459834"/>
                    <a:pt x="378460" y="463606"/>
                  </a:cubicBezTo>
                  <a:cubicBezTo>
                    <a:pt x="371094" y="467377"/>
                    <a:pt x="363474" y="470905"/>
                    <a:pt x="355600" y="473946"/>
                  </a:cubicBezTo>
                  <a:cubicBezTo>
                    <a:pt x="347726" y="476987"/>
                    <a:pt x="339852" y="479785"/>
                    <a:pt x="331851" y="482096"/>
                  </a:cubicBezTo>
                  <a:cubicBezTo>
                    <a:pt x="323850" y="484408"/>
                    <a:pt x="315595" y="486354"/>
                    <a:pt x="307340" y="487935"/>
                  </a:cubicBezTo>
                  <a:cubicBezTo>
                    <a:pt x="299085" y="489517"/>
                    <a:pt x="290830" y="490733"/>
                    <a:pt x="282448" y="491463"/>
                  </a:cubicBezTo>
                  <a:cubicBezTo>
                    <a:pt x="274066" y="492193"/>
                    <a:pt x="265684" y="492680"/>
                    <a:pt x="257175" y="492680"/>
                  </a:cubicBezTo>
                  <a:cubicBezTo>
                    <a:pt x="248666" y="492680"/>
                    <a:pt x="240284" y="492315"/>
                    <a:pt x="232029" y="491463"/>
                  </a:cubicBezTo>
                  <a:cubicBezTo>
                    <a:pt x="223774" y="490612"/>
                    <a:pt x="215265" y="489517"/>
                    <a:pt x="207010" y="487935"/>
                  </a:cubicBezTo>
                  <a:cubicBezTo>
                    <a:pt x="198755" y="486354"/>
                    <a:pt x="190627" y="484408"/>
                    <a:pt x="182499" y="482096"/>
                  </a:cubicBezTo>
                  <a:cubicBezTo>
                    <a:pt x="174371" y="479785"/>
                    <a:pt x="166497" y="476987"/>
                    <a:pt x="158750" y="473946"/>
                  </a:cubicBezTo>
                  <a:cubicBezTo>
                    <a:pt x="151003" y="470905"/>
                    <a:pt x="143383" y="467377"/>
                    <a:pt x="135890" y="463606"/>
                  </a:cubicBezTo>
                  <a:cubicBezTo>
                    <a:pt x="128397" y="459834"/>
                    <a:pt x="121285" y="455698"/>
                    <a:pt x="114300" y="451197"/>
                  </a:cubicBezTo>
                  <a:cubicBezTo>
                    <a:pt x="107315" y="446696"/>
                    <a:pt x="100584" y="441952"/>
                    <a:pt x="93980" y="436843"/>
                  </a:cubicBezTo>
                  <a:cubicBezTo>
                    <a:pt x="87376" y="431733"/>
                    <a:pt x="81280" y="426259"/>
                    <a:pt x="75311" y="420663"/>
                  </a:cubicBezTo>
                  <a:cubicBezTo>
                    <a:pt x="69342" y="415068"/>
                    <a:pt x="63754" y="408985"/>
                    <a:pt x="58293" y="402781"/>
                  </a:cubicBezTo>
                  <a:cubicBezTo>
                    <a:pt x="52832" y="396577"/>
                    <a:pt x="47879" y="390129"/>
                    <a:pt x="43307" y="383317"/>
                  </a:cubicBezTo>
                  <a:cubicBezTo>
                    <a:pt x="38735" y="376505"/>
                    <a:pt x="34290" y="369692"/>
                    <a:pt x="30353" y="362637"/>
                  </a:cubicBezTo>
                  <a:cubicBezTo>
                    <a:pt x="26416" y="355581"/>
                    <a:pt x="22733" y="348282"/>
                    <a:pt x="19558" y="340740"/>
                  </a:cubicBezTo>
                  <a:cubicBezTo>
                    <a:pt x="16383" y="333198"/>
                    <a:pt x="13462" y="325655"/>
                    <a:pt x="11049" y="317991"/>
                  </a:cubicBezTo>
                  <a:cubicBezTo>
                    <a:pt x="8636" y="310328"/>
                    <a:pt x="6604" y="302420"/>
                    <a:pt x="4953" y="294513"/>
                  </a:cubicBezTo>
                  <a:cubicBezTo>
                    <a:pt x="3302" y="286606"/>
                    <a:pt x="2032" y="278699"/>
                    <a:pt x="1270" y="270670"/>
                  </a:cubicBezTo>
                  <a:cubicBezTo>
                    <a:pt x="508" y="262641"/>
                    <a:pt x="0" y="254612"/>
                    <a:pt x="0" y="246462"/>
                  </a:cubicBezTo>
                </a:path>
              </a:pathLst>
            </a:custGeom>
            <a:solidFill>
              <a:srgbClr val="FDC4C4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451954" y="561617"/>
              <a:ext cx="46329" cy="26738"/>
            </a:xfrm>
            <a:custGeom>
              <a:avLst/>
              <a:gdLst/>
              <a:ahLst/>
              <a:cxnLst/>
              <a:rect r="r" b="b" t="t" l="l"/>
              <a:pathLst>
                <a:path h="26738" w="46329">
                  <a:moveTo>
                    <a:pt x="39155" y="26435"/>
                  </a:moveTo>
                  <a:cubicBezTo>
                    <a:pt x="32678" y="23637"/>
                    <a:pt x="20613" y="17920"/>
                    <a:pt x="2833" y="9283"/>
                  </a:cubicBezTo>
                  <a:cubicBezTo>
                    <a:pt x="293" y="8066"/>
                    <a:pt x="-723" y="5147"/>
                    <a:pt x="547" y="2714"/>
                  </a:cubicBezTo>
                  <a:cubicBezTo>
                    <a:pt x="1817" y="281"/>
                    <a:pt x="4865" y="-692"/>
                    <a:pt x="7405" y="524"/>
                  </a:cubicBezTo>
                  <a:cubicBezTo>
                    <a:pt x="25185" y="9161"/>
                    <a:pt x="37123" y="14757"/>
                    <a:pt x="43346" y="17433"/>
                  </a:cubicBezTo>
                  <a:cubicBezTo>
                    <a:pt x="45886" y="18528"/>
                    <a:pt x="47029" y="21448"/>
                    <a:pt x="45886" y="23881"/>
                  </a:cubicBezTo>
                  <a:cubicBezTo>
                    <a:pt x="44743" y="26314"/>
                    <a:pt x="41695" y="27409"/>
                    <a:pt x="39155" y="2631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383667" y="501803"/>
              <a:ext cx="16572" cy="39474"/>
            </a:xfrm>
            <a:custGeom>
              <a:avLst/>
              <a:gdLst/>
              <a:ahLst/>
              <a:cxnLst/>
              <a:rect r="r" b="b" t="t" l="l"/>
              <a:pathLst>
                <a:path h="39474" w="16572">
                  <a:moveTo>
                    <a:pt x="8763" y="38563"/>
                  </a:moveTo>
                  <a:cubicBezTo>
                    <a:pt x="5969" y="36860"/>
                    <a:pt x="3556" y="34548"/>
                    <a:pt x="1778" y="31750"/>
                  </a:cubicBezTo>
                  <a:cubicBezTo>
                    <a:pt x="1524" y="31386"/>
                    <a:pt x="1397" y="31142"/>
                    <a:pt x="1270" y="30777"/>
                  </a:cubicBezTo>
                  <a:cubicBezTo>
                    <a:pt x="254" y="27736"/>
                    <a:pt x="0" y="23722"/>
                    <a:pt x="0" y="4866"/>
                  </a:cubicBezTo>
                  <a:cubicBezTo>
                    <a:pt x="0" y="2190"/>
                    <a:pt x="2286" y="0"/>
                    <a:pt x="5080" y="0"/>
                  </a:cubicBezTo>
                  <a:cubicBezTo>
                    <a:pt x="7874" y="0"/>
                    <a:pt x="10160" y="2190"/>
                    <a:pt x="10160" y="4866"/>
                  </a:cubicBezTo>
                  <a:cubicBezTo>
                    <a:pt x="10160" y="24816"/>
                    <a:pt x="10541" y="26641"/>
                    <a:pt x="10922" y="27736"/>
                  </a:cubicBezTo>
                  <a:lnTo>
                    <a:pt x="6096" y="29317"/>
                  </a:lnTo>
                  <a:lnTo>
                    <a:pt x="10414" y="26763"/>
                  </a:lnTo>
                  <a:cubicBezTo>
                    <a:pt x="11303" y="28101"/>
                    <a:pt x="12573" y="29439"/>
                    <a:pt x="14224" y="30412"/>
                  </a:cubicBezTo>
                  <a:cubicBezTo>
                    <a:pt x="16637" y="31872"/>
                    <a:pt x="17272" y="34913"/>
                    <a:pt x="15748" y="37225"/>
                  </a:cubicBezTo>
                  <a:cubicBezTo>
                    <a:pt x="14224" y="39536"/>
                    <a:pt x="11049" y="40144"/>
                    <a:pt x="8636" y="3868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383748" y="404196"/>
              <a:ext cx="11141" cy="16632"/>
            </a:xfrm>
            <a:custGeom>
              <a:avLst/>
              <a:gdLst/>
              <a:ahLst/>
              <a:cxnLst/>
              <a:rect r="r" b="b" t="t" l="l"/>
              <a:pathLst>
                <a:path h="16632" w="11141">
                  <a:moveTo>
                    <a:pt x="46" y="11114"/>
                  </a:moveTo>
                  <a:lnTo>
                    <a:pt x="935" y="4302"/>
                  </a:lnTo>
                  <a:cubicBezTo>
                    <a:pt x="1316" y="1626"/>
                    <a:pt x="3856" y="-321"/>
                    <a:pt x="6650" y="44"/>
                  </a:cubicBezTo>
                  <a:cubicBezTo>
                    <a:pt x="9444" y="409"/>
                    <a:pt x="11476" y="2842"/>
                    <a:pt x="11095" y="5519"/>
                  </a:cubicBezTo>
                  <a:lnTo>
                    <a:pt x="10206" y="12331"/>
                  </a:lnTo>
                  <a:cubicBezTo>
                    <a:pt x="9825" y="15007"/>
                    <a:pt x="7285" y="16954"/>
                    <a:pt x="4491" y="16589"/>
                  </a:cubicBezTo>
                  <a:cubicBezTo>
                    <a:pt x="1697" y="16224"/>
                    <a:pt x="-335" y="13791"/>
                    <a:pt x="46" y="1111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592409" y="403831"/>
              <a:ext cx="10968" cy="29361"/>
            </a:xfrm>
            <a:custGeom>
              <a:avLst/>
              <a:gdLst/>
              <a:ahLst/>
              <a:cxnLst/>
              <a:rect r="r" b="b" t="t" l="l"/>
              <a:pathLst>
                <a:path h="29361" w="10968">
                  <a:moveTo>
                    <a:pt x="10079" y="4424"/>
                  </a:moveTo>
                  <a:cubicBezTo>
                    <a:pt x="10587" y="9047"/>
                    <a:pt x="10968" y="15859"/>
                    <a:pt x="10968" y="24496"/>
                  </a:cubicBezTo>
                  <a:cubicBezTo>
                    <a:pt x="10968" y="27172"/>
                    <a:pt x="8682" y="29362"/>
                    <a:pt x="5888" y="29362"/>
                  </a:cubicBezTo>
                  <a:cubicBezTo>
                    <a:pt x="3094" y="29362"/>
                    <a:pt x="808" y="27172"/>
                    <a:pt x="808" y="24496"/>
                  </a:cubicBezTo>
                  <a:cubicBezTo>
                    <a:pt x="808" y="15859"/>
                    <a:pt x="554" y="9533"/>
                    <a:pt x="46" y="5519"/>
                  </a:cubicBezTo>
                  <a:cubicBezTo>
                    <a:pt x="-335" y="2842"/>
                    <a:pt x="1697" y="409"/>
                    <a:pt x="4618" y="44"/>
                  </a:cubicBezTo>
                  <a:cubicBezTo>
                    <a:pt x="7539" y="-321"/>
                    <a:pt x="9952" y="1626"/>
                    <a:pt x="10333" y="442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577474" y="521345"/>
              <a:ext cx="25822" cy="24072"/>
            </a:xfrm>
            <a:custGeom>
              <a:avLst/>
              <a:gdLst/>
              <a:ahLst/>
              <a:cxnLst/>
              <a:rect r="r" b="b" t="t" l="l"/>
              <a:pathLst>
                <a:path h="24072" w="25822">
                  <a:moveTo>
                    <a:pt x="25776" y="5639"/>
                  </a:moveTo>
                  <a:cubicBezTo>
                    <a:pt x="25395" y="8316"/>
                    <a:pt x="24633" y="10870"/>
                    <a:pt x="23617" y="12817"/>
                  </a:cubicBezTo>
                  <a:cubicBezTo>
                    <a:pt x="23490" y="13060"/>
                    <a:pt x="23236" y="13425"/>
                    <a:pt x="23109" y="13668"/>
                  </a:cubicBezTo>
                  <a:cubicBezTo>
                    <a:pt x="20823" y="16345"/>
                    <a:pt x="17267" y="18534"/>
                    <a:pt x="7615" y="23522"/>
                  </a:cubicBezTo>
                  <a:cubicBezTo>
                    <a:pt x="5075" y="24738"/>
                    <a:pt x="2027" y="23887"/>
                    <a:pt x="630" y="21454"/>
                  </a:cubicBezTo>
                  <a:cubicBezTo>
                    <a:pt x="-767" y="19021"/>
                    <a:pt x="249" y="16101"/>
                    <a:pt x="2789" y="14763"/>
                  </a:cubicBezTo>
                  <a:cubicBezTo>
                    <a:pt x="12949" y="9654"/>
                    <a:pt x="14346" y="8316"/>
                    <a:pt x="15108" y="7464"/>
                  </a:cubicBezTo>
                  <a:lnTo>
                    <a:pt x="19045" y="10505"/>
                  </a:lnTo>
                  <a:lnTo>
                    <a:pt x="14473" y="8194"/>
                  </a:lnTo>
                  <a:cubicBezTo>
                    <a:pt x="14854" y="7464"/>
                    <a:pt x="15362" y="6126"/>
                    <a:pt x="15616" y="4301"/>
                  </a:cubicBezTo>
                  <a:cubicBezTo>
                    <a:pt x="15997" y="1625"/>
                    <a:pt x="18537" y="-321"/>
                    <a:pt x="21331" y="44"/>
                  </a:cubicBezTo>
                  <a:cubicBezTo>
                    <a:pt x="24125" y="409"/>
                    <a:pt x="26157" y="2842"/>
                    <a:pt x="25776" y="551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488093" y="571593"/>
              <a:ext cx="26677" cy="16916"/>
            </a:xfrm>
            <a:custGeom>
              <a:avLst/>
              <a:gdLst/>
              <a:ahLst/>
              <a:cxnLst/>
              <a:rect r="r" b="b" t="t" l="l"/>
              <a:pathLst>
                <a:path h="16916" w="26677">
                  <a:moveTo>
                    <a:pt x="23844" y="9404"/>
                  </a:moveTo>
                  <a:cubicBezTo>
                    <a:pt x="17494" y="12323"/>
                    <a:pt x="11906" y="14756"/>
                    <a:pt x="6953" y="16581"/>
                  </a:cubicBezTo>
                  <a:cubicBezTo>
                    <a:pt x="4286" y="17554"/>
                    <a:pt x="1365" y="16338"/>
                    <a:pt x="349" y="13783"/>
                  </a:cubicBezTo>
                  <a:cubicBezTo>
                    <a:pt x="-667" y="11228"/>
                    <a:pt x="603" y="8430"/>
                    <a:pt x="3270" y="7457"/>
                  </a:cubicBezTo>
                  <a:cubicBezTo>
                    <a:pt x="7842" y="5754"/>
                    <a:pt x="13176" y="3443"/>
                    <a:pt x="19272" y="523"/>
                  </a:cubicBezTo>
                  <a:cubicBezTo>
                    <a:pt x="21812" y="-693"/>
                    <a:pt x="24860" y="280"/>
                    <a:pt x="26130" y="2713"/>
                  </a:cubicBezTo>
                  <a:cubicBezTo>
                    <a:pt x="27400" y="5146"/>
                    <a:pt x="26384" y="8066"/>
                    <a:pt x="23844" y="928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530992" y="450664"/>
              <a:ext cx="23539" cy="27169"/>
            </a:xfrm>
            <a:custGeom>
              <a:avLst/>
              <a:gdLst/>
              <a:ahLst/>
              <a:cxnLst/>
              <a:rect r="r" b="b" t="t" l="l"/>
              <a:pathLst>
                <a:path h="27169" w="23539">
                  <a:moveTo>
                    <a:pt x="2916" y="17929"/>
                  </a:moveTo>
                  <a:cubicBezTo>
                    <a:pt x="5456" y="16591"/>
                    <a:pt x="7742" y="15009"/>
                    <a:pt x="9520" y="13428"/>
                  </a:cubicBezTo>
                  <a:lnTo>
                    <a:pt x="13076" y="16956"/>
                  </a:lnTo>
                  <a:lnTo>
                    <a:pt x="9139" y="13914"/>
                  </a:lnTo>
                  <a:cubicBezTo>
                    <a:pt x="10663" y="12211"/>
                    <a:pt x="11552" y="10751"/>
                    <a:pt x="12441" y="8683"/>
                  </a:cubicBezTo>
                  <a:lnTo>
                    <a:pt x="17140" y="10630"/>
                  </a:lnTo>
                  <a:lnTo>
                    <a:pt x="12187" y="9170"/>
                  </a:lnTo>
                  <a:cubicBezTo>
                    <a:pt x="12695" y="7467"/>
                    <a:pt x="13076" y="5886"/>
                    <a:pt x="13330" y="4182"/>
                  </a:cubicBezTo>
                  <a:cubicBezTo>
                    <a:pt x="13711" y="1506"/>
                    <a:pt x="16378" y="-319"/>
                    <a:pt x="19172" y="46"/>
                  </a:cubicBezTo>
                  <a:cubicBezTo>
                    <a:pt x="21966" y="411"/>
                    <a:pt x="23871" y="2966"/>
                    <a:pt x="23490" y="5642"/>
                  </a:cubicBezTo>
                  <a:cubicBezTo>
                    <a:pt x="23236" y="7832"/>
                    <a:pt x="22728" y="9900"/>
                    <a:pt x="21966" y="12090"/>
                  </a:cubicBezTo>
                  <a:cubicBezTo>
                    <a:pt x="21966" y="12211"/>
                    <a:pt x="21839" y="12455"/>
                    <a:pt x="21712" y="12576"/>
                  </a:cubicBezTo>
                  <a:cubicBezTo>
                    <a:pt x="20442" y="15496"/>
                    <a:pt x="18918" y="17686"/>
                    <a:pt x="16886" y="20119"/>
                  </a:cubicBezTo>
                  <a:cubicBezTo>
                    <a:pt x="16759" y="20240"/>
                    <a:pt x="16632" y="20483"/>
                    <a:pt x="16378" y="20605"/>
                  </a:cubicBezTo>
                  <a:cubicBezTo>
                    <a:pt x="13838" y="22916"/>
                    <a:pt x="10917" y="24984"/>
                    <a:pt x="7615" y="26566"/>
                  </a:cubicBezTo>
                  <a:cubicBezTo>
                    <a:pt x="5075" y="27904"/>
                    <a:pt x="2027" y="26931"/>
                    <a:pt x="630" y="24498"/>
                  </a:cubicBezTo>
                  <a:cubicBezTo>
                    <a:pt x="-767" y="22065"/>
                    <a:pt x="249" y="19145"/>
                    <a:pt x="2789" y="1780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468108" y="356919"/>
              <a:ext cx="38938" cy="17895"/>
            </a:xfrm>
            <a:custGeom>
              <a:avLst/>
              <a:gdLst/>
              <a:ahLst/>
              <a:cxnLst/>
              <a:rect r="r" b="b" t="t" l="l"/>
              <a:pathLst>
                <a:path h="17895" w="38938">
                  <a:moveTo>
                    <a:pt x="31637" y="12043"/>
                  </a:moveTo>
                  <a:cubicBezTo>
                    <a:pt x="28462" y="10705"/>
                    <a:pt x="26430" y="9975"/>
                    <a:pt x="25033" y="9853"/>
                  </a:cubicBezTo>
                  <a:lnTo>
                    <a:pt x="25795" y="4987"/>
                  </a:lnTo>
                  <a:lnTo>
                    <a:pt x="26176" y="9853"/>
                  </a:lnTo>
                  <a:cubicBezTo>
                    <a:pt x="24271" y="9975"/>
                    <a:pt x="22493" y="10462"/>
                    <a:pt x="20969" y="11070"/>
                  </a:cubicBezTo>
                  <a:lnTo>
                    <a:pt x="18937" y="6569"/>
                  </a:lnTo>
                  <a:lnTo>
                    <a:pt x="21223" y="10948"/>
                  </a:lnTo>
                  <a:lnTo>
                    <a:pt x="7380" y="17396"/>
                  </a:lnTo>
                  <a:cubicBezTo>
                    <a:pt x="4840" y="18612"/>
                    <a:pt x="1792" y="17517"/>
                    <a:pt x="522" y="15084"/>
                  </a:cubicBezTo>
                  <a:cubicBezTo>
                    <a:pt x="-748" y="12651"/>
                    <a:pt x="395" y="9732"/>
                    <a:pt x="2935" y="8515"/>
                  </a:cubicBezTo>
                  <a:lnTo>
                    <a:pt x="16778" y="2068"/>
                  </a:lnTo>
                  <a:cubicBezTo>
                    <a:pt x="16905" y="2068"/>
                    <a:pt x="16905" y="1946"/>
                    <a:pt x="17032" y="1946"/>
                  </a:cubicBezTo>
                  <a:cubicBezTo>
                    <a:pt x="19572" y="973"/>
                    <a:pt x="22366" y="243"/>
                    <a:pt x="25541" y="0"/>
                  </a:cubicBezTo>
                  <a:cubicBezTo>
                    <a:pt x="25922" y="0"/>
                    <a:pt x="26303" y="0"/>
                    <a:pt x="26684" y="0"/>
                  </a:cubicBezTo>
                  <a:cubicBezTo>
                    <a:pt x="29478" y="365"/>
                    <a:pt x="32399" y="1460"/>
                    <a:pt x="35955" y="3041"/>
                  </a:cubicBezTo>
                  <a:cubicBezTo>
                    <a:pt x="38495" y="4136"/>
                    <a:pt x="39638" y="7055"/>
                    <a:pt x="38495" y="9488"/>
                  </a:cubicBezTo>
                  <a:cubicBezTo>
                    <a:pt x="37352" y="11921"/>
                    <a:pt x="34304" y="13016"/>
                    <a:pt x="31764" y="1192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385812" y="399605"/>
              <a:ext cx="18442" cy="13651"/>
            </a:xfrm>
            <a:custGeom>
              <a:avLst/>
              <a:gdLst/>
              <a:ahLst/>
              <a:cxnLst/>
              <a:rect r="r" b="b" t="t" l="l"/>
              <a:pathLst>
                <a:path h="13651" w="18442">
                  <a:moveTo>
                    <a:pt x="15508" y="9380"/>
                  </a:moveTo>
                  <a:lnTo>
                    <a:pt x="7380" y="13151"/>
                  </a:lnTo>
                  <a:cubicBezTo>
                    <a:pt x="4840" y="14367"/>
                    <a:pt x="1792" y="13272"/>
                    <a:pt x="522" y="10839"/>
                  </a:cubicBezTo>
                  <a:cubicBezTo>
                    <a:pt x="-748" y="8406"/>
                    <a:pt x="395" y="5487"/>
                    <a:pt x="2935" y="4270"/>
                  </a:cubicBezTo>
                  <a:lnTo>
                    <a:pt x="11063" y="499"/>
                  </a:lnTo>
                  <a:cubicBezTo>
                    <a:pt x="13603" y="-717"/>
                    <a:pt x="16651" y="378"/>
                    <a:pt x="17921" y="2811"/>
                  </a:cubicBezTo>
                  <a:cubicBezTo>
                    <a:pt x="19191" y="5244"/>
                    <a:pt x="18048" y="8163"/>
                    <a:pt x="15508" y="938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385787" y="403473"/>
              <a:ext cx="112600" cy="58223"/>
            </a:xfrm>
            <a:custGeom>
              <a:avLst/>
              <a:gdLst/>
              <a:ahLst/>
              <a:cxnLst/>
              <a:rect r="r" b="b" t="t" l="l"/>
              <a:pathLst>
                <a:path h="58223" w="112600">
                  <a:moveTo>
                    <a:pt x="105322" y="57699"/>
                  </a:moveTo>
                  <a:lnTo>
                    <a:pt x="2833" y="9283"/>
                  </a:lnTo>
                  <a:cubicBezTo>
                    <a:pt x="293" y="8066"/>
                    <a:pt x="-723" y="5147"/>
                    <a:pt x="547" y="2714"/>
                  </a:cubicBezTo>
                  <a:cubicBezTo>
                    <a:pt x="1817" y="281"/>
                    <a:pt x="4865" y="-692"/>
                    <a:pt x="7405" y="524"/>
                  </a:cubicBezTo>
                  <a:lnTo>
                    <a:pt x="109767" y="48940"/>
                  </a:lnTo>
                  <a:cubicBezTo>
                    <a:pt x="112307" y="50157"/>
                    <a:pt x="113323" y="53077"/>
                    <a:pt x="112053" y="55509"/>
                  </a:cubicBezTo>
                  <a:cubicBezTo>
                    <a:pt x="110783" y="57942"/>
                    <a:pt x="107735" y="58916"/>
                    <a:pt x="105195" y="576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488188" y="451927"/>
              <a:ext cx="10287" cy="136490"/>
            </a:xfrm>
            <a:custGeom>
              <a:avLst/>
              <a:gdLst/>
              <a:ahLst/>
              <a:cxnLst/>
              <a:rect r="r" b="b" t="t" l="l"/>
              <a:pathLst>
                <a:path h="136490" w="10287">
                  <a:moveTo>
                    <a:pt x="10287" y="4866"/>
                  </a:moveTo>
                  <a:lnTo>
                    <a:pt x="10160" y="131624"/>
                  </a:lnTo>
                  <a:cubicBezTo>
                    <a:pt x="10160" y="134301"/>
                    <a:pt x="7874" y="136490"/>
                    <a:pt x="5080" y="136490"/>
                  </a:cubicBezTo>
                  <a:cubicBezTo>
                    <a:pt x="2286" y="136490"/>
                    <a:pt x="0" y="134301"/>
                    <a:pt x="0" y="131624"/>
                  </a:cubicBezTo>
                  <a:lnTo>
                    <a:pt x="127" y="4866"/>
                  </a:lnTo>
                  <a:cubicBezTo>
                    <a:pt x="127" y="2190"/>
                    <a:pt x="2413" y="0"/>
                    <a:pt x="5207" y="0"/>
                  </a:cubicBezTo>
                  <a:cubicBezTo>
                    <a:pt x="8001" y="0"/>
                    <a:pt x="10287" y="2190"/>
                    <a:pt x="10287" y="48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488301" y="403497"/>
              <a:ext cx="113819" cy="58174"/>
            </a:xfrm>
            <a:custGeom>
              <a:avLst/>
              <a:gdLst/>
              <a:ahLst/>
              <a:cxnLst/>
              <a:rect r="r" b="b" t="t" l="l"/>
              <a:pathLst>
                <a:path h="58174" w="113819">
                  <a:moveTo>
                    <a:pt x="110885" y="9380"/>
                  </a:moveTo>
                  <a:lnTo>
                    <a:pt x="7380" y="57675"/>
                  </a:lnTo>
                  <a:cubicBezTo>
                    <a:pt x="4840" y="58892"/>
                    <a:pt x="1792" y="57797"/>
                    <a:pt x="522" y="55364"/>
                  </a:cubicBezTo>
                  <a:cubicBezTo>
                    <a:pt x="-748" y="52931"/>
                    <a:pt x="395" y="50011"/>
                    <a:pt x="2935" y="48795"/>
                  </a:cubicBezTo>
                  <a:lnTo>
                    <a:pt x="106440" y="500"/>
                  </a:lnTo>
                  <a:cubicBezTo>
                    <a:pt x="108980" y="-716"/>
                    <a:pt x="112028" y="378"/>
                    <a:pt x="113298" y="2811"/>
                  </a:cubicBezTo>
                  <a:cubicBezTo>
                    <a:pt x="114568" y="5244"/>
                    <a:pt x="113425" y="8164"/>
                    <a:pt x="110885" y="938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390105" y="531327"/>
              <a:ext cx="72086" cy="40097"/>
            </a:xfrm>
            <a:custGeom>
              <a:avLst/>
              <a:gdLst/>
              <a:ahLst/>
              <a:cxnLst/>
              <a:rect r="r" b="b" t="t" l="l"/>
              <a:pathLst>
                <a:path h="40097" w="72086">
                  <a:moveTo>
                    <a:pt x="64682" y="39573"/>
                  </a:moveTo>
                  <a:lnTo>
                    <a:pt x="2833" y="9282"/>
                  </a:lnTo>
                  <a:cubicBezTo>
                    <a:pt x="293" y="8066"/>
                    <a:pt x="-723" y="5146"/>
                    <a:pt x="547" y="2713"/>
                  </a:cubicBezTo>
                  <a:cubicBezTo>
                    <a:pt x="1817" y="280"/>
                    <a:pt x="4865" y="-693"/>
                    <a:pt x="7405" y="523"/>
                  </a:cubicBezTo>
                  <a:lnTo>
                    <a:pt x="69254" y="30814"/>
                  </a:lnTo>
                  <a:cubicBezTo>
                    <a:pt x="71794" y="32031"/>
                    <a:pt x="72810" y="34950"/>
                    <a:pt x="71540" y="37383"/>
                  </a:cubicBezTo>
                  <a:cubicBezTo>
                    <a:pt x="70270" y="39816"/>
                    <a:pt x="67222" y="40789"/>
                    <a:pt x="64682" y="3957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441794" y="377197"/>
              <a:ext cx="112726" cy="58709"/>
            </a:xfrm>
            <a:custGeom>
              <a:avLst/>
              <a:gdLst/>
              <a:ahLst/>
              <a:cxnLst/>
              <a:rect r="r" b="b" t="t" l="l"/>
              <a:pathLst>
                <a:path h="58709" w="112726">
                  <a:moveTo>
                    <a:pt x="105322" y="58186"/>
                  </a:moveTo>
                  <a:lnTo>
                    <a:pt x="2833" y="9283"/>
                  </a:lnTo>
                  <a:cubicBezTo>
                    <a:pt x="293" y="8066"/>
                    <a:pt x="-723" y="5147"/>
                    <a:pt x="547" y="2714"/>
                  </a:cubicBezTo>
                  <a:cubicBezTo>
                    <a:pt x="1817" y="281"/>
                    <a:pt x="4865" y="-693"/>
                    <a:pt x="7405" y="524"/>
                  </a:cubicBezTo>
                  <a:lnTo>
                    <a:pt x="109894" y="49427"/>
                  </a:lnTo>
                  <a:cubicBezTo>
                    <a:pt x="112434" y="50643"/>
                    <a:pt x="113450" y="53563"/>
                    <a:pt x="112180" y="55996"/>
                  </a:cubicBezTo>
                  <a:cubicBezTo>
                    <a:pt x="110910" y="58429"/>
                    <a:pt x="107862" y="59402"/>
                    <a:pt x="105322" y="5818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383667" y="410931"/>
              <a:ext cx="10160" cy="100604"/>
            </a:xfrm>
            <a:custGeom>
              <a:avLst/>
              <a:gdLst/>
              <a:ahLst/>
              <a:cxnLst/>
              <a:rect r="r" b="b" t="t" l="l"/>
              <a:pathLst>
                <a:path h="100604" w="10160">
                  <a:moveTo>
                    <a:pt x="0" y="95738"/>
                  </a:moveTo>
                  <a:lnTo>
                    <a:pt x="0" y="4866"/>
                  </a:lnTo>
                  <a:cubicBezTo>
                    <a:pt x="0" y="2190"/>
                    <a:pt x="2286" y="0"/>
                    <a:pt x="5080" y="0"/>
                  </a:cubicBezTo>
                  <a:cubicBezTo>
                    <a:pt x="7874" y="0"/>
                    <a:pt x="10160" y="2190"/>
                    <a:pt x="10160" y="4866"/>
                  </a:cubicBezTo>
                  <a:lnTo>
                    <a:pt x="10160" y="95738"/>
                  </a:lnTo>
                  <a:cubicBezTo>
                    <a:pt x="10160" y="98414"/>
                    <a:pt x="7874" y="100604"/>
                    <a:pt x="5080" y="100604"/>
                  </a:cubicBezTo>
                  <a:cubicBezTo>
                    <a:pt x="2286" y="100604"/>
                    <a:pt x="0" y="98414"/>
                    <a:pt x="0" y="9573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593217" y="423461"/>
              <a:ext cx="10160" cy="107781"/>
            </a:xfrm>
            <a:custGeom>
              <a:avLst/>
              <a:gdLst/>
              <a:ahLst/>
              <a:cxnLst/>
              <a:rect r="r" b="b" t="t" l="l"/>
              <a:pathLst>
                <a:path h="107781" w="10160">
                  <a:moveTo>
                    <a:pt x="10160" y="4866"/>
                  </a:moveTo>
                  <a:lnTo>
                    <a:pt x="10160" y="102915"/>
                  </a:lnTo>
                  <a:cubicBezTo>
                    <a:pt x="10160" y="105591"/>
                    <a:pt x="7874" y="107781"/>
                    <a:pt x="5080" y="107781"/>
                  </a:cubicBezTo>
                  <a:cubicBezTo>
                    <a:pt x="2286" y="107781"/>
                    <a:pt x="0" y="105591"/>
                    <a:pt x="0" y="102915"/>
                  </a:cubicBezTo>
                  <a:lnTo>
                    <a:pt x="0" y="4866"/>
                  </a:lnTo>
                  <a:cubicBezTo>
                    <a:pt x="0" y="2190"/>
                    <a:pt x="2286" y="0"/>
                    <a:pt x="5080" y="0"/>
                  </a:cubicBezTo>
                  <a:cubicBezTo>
                    <a:pt x="7874" y="0"/>
                    <a:pt x="10160" y="2190"/>
                    <a:pt x="10160" y="48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504529" y="535581"/>
              <a:ext cx="83142" cy="45820"/>
            </a:xfrm>
            <a:custGeom>
              <a:avLst/>
              <a:gdLst/>
              <a:ahLst/>
              <a:cxnLst/>
              <a:rect r="r" b="b" t="t" l="l"/>
              <a:pathLst>
                <a:path h="45820" w="83142">
                  <a:moveTo>
                    <a:pt x="80433" y="9164"/>
                  </a:moveTo>
                  <a:lnTo>
                    <a:pt x="7408" y="45294"/>
                  </a:lnTo>
                  <a:cubicBezTo>
                    <a:pt x="4868" y="46511"/>
                    <a:pt x="1820" y="45537"/>
                    <a:pt x="550" y="43226"/>
                  </a:cubicBezTo>
                  <a:cubicBezTo>
                    <a:pt x="-720" y="40915"/>
                    <a:pt x="296" y="37873"/>
                    <a:pt x="2709" y="36657"/>
                  </a:cubicBezTo>
                  <a:lnTo>
                    <a:pt x="75734" y="527"/>
                  </a:lnTo>
                  <a:cubicBezTo>
                    <a:pt x="78274" y="-689"/>
                    <a:pt x="81322" y="284"/>
                    <a:pt x="82592" y="2595"/>
                  </a:cubicBezTo>
                  <a:cubicBezTo>
                    <a:pt x="83862" y="4907"/>
                    <a:pt x="82846" y="7948"/>
                    <a:pt x="80433" y="916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544322" y="426137"/>
              <a:ext cx="10160" cy="34427"/>
            </a:xfrm>
            <a:custGeom>
              <a:avLst/>
              <a:gdLst/>
              <a:ahLst/>
              <a:cxnLst/>
              <a:rect r="r" b="b" t="t" l="l"/>
              <a:pathLst>
                <a:path h="34427" w="10160">
                  <a:moveTo>
                    <a:pt x="0" y="29561"/>
                  </a:moveTo>
                  <a:lnTo>
                    <a:pt x="0" y="4866"/>
                  </a:lnTo>
                  <a:cubicBezTo>
                    <a:pt x="0" y="2190"/>
                    <a:pt x="2286" y="0"/>
                    <a:pt x="5080" y="0"/>
                  </a:cubicBezTo>
                  <a:cubicBezTo>
                    <a:pt x="7874" y="0"/>
                    <a:pt x="10160" y="2190"/>
                    <a:pt x="10160" y="4866"/>
                  </a:cubicBezTo>
                  <a:lnTo>
                    <a:pt x="10160" y="29561"/>
                  </a:lnTo>
                  <a:cubicBezTo>
                    <a:pt x="10160" y="32237"/>
                    <a:pt x="7874" y="34427"/>
                    <a:pt x="5080" y="34427"/>
                  </a:cubicBezTo>
                  <a:cubicBezTo>
                    <a:pt x="2286" y="34427"/>
                    <a:pt x="0" y="32237"/>
                    <a:pt x="0" y="2956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496866" y="359513"/>
              <a:ext cx="105200" cy="53811"/>
            </a:xfrm>
            <a:custGeom>
              <a:avLst/>
              <a:gdLst/>
              <a:ahLst/>
              <a:cxnLst/>
              <a:rect r="r" b="b" t="t" l="l"/>
              <a:pathLst>
                <a:path h="53811" w="105200">
                  <a:moveTo>
                    <a:pt x="97875" y="53364"/>
                  </a:moveTo>
                  <a:lnTo>
                    <a:pt x="2879" y="9327"/>
                  </a:lnTo>
                  <a:cubicBezTo>
                    <a:pt x="339" y="8111"/>
                    <a:pt x="-677" y="5191"/>
                    <a:pt x="466" y="2758"/>
                  </a:cubicBezTo>
                  <a:cubicBezTo>
                    <a:pt x="1609" y="325"/>
                    <a:pt x="4784" y="-648"/>
                    <a:pt x="7324" y="447"/>
                  </a:cubicBezTo>
                  <a:lnTo>
                    <a:pt x="102320" y="44484"/>
                  </a:lnTo>
                  <a:cubicBezTo>
                    <a:pt x="104860" y="45701"/>
                    <a:pt x="105876" y="48620"/>
                    <a:pt x="104733" y="51053"/>
                  </a:cubicBezTo>
                  <a:cubicBezTo>
                    <a:pt x="103590" y="53486"/>
                    <a:pt x="100415" y="54459"/>
                    <a:pt x="97875" y="5336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394067" y="364935"/>
              <a:ext cx="84355" cy="44550"/>
            </a:xfrm>
            <a:custGeom>
              <a:avLst/>
              <a:gdLst/>
              <a:ahLst/>
              <a:cxnLst/>
              <a:rect r="r" b="b" t="t" l="l"/>
              <a:pathLst>
                <a:path h="44550" w="84355">
                  <a:moveTo>
                    <a:pt x="81421" y="9380"/>
                  </a:moveTo>
                  <a:lnTo>
                    <a:pt x="7380" y="44050"/>
                  </a:lnTo>
                  <a:cubicBezTo>
                    <a:pt x="4840" y="45266"/>
                    <a:pt x="1792" y="44171"/>
                    <a:pt x="522" y="41738"/>
                  </a:cubicBezTo>
                  <a:cubicBezTo>
                    <a:pt x="-748" y="39305"/>
                    <a:pt x="395" y="36386"/>
                    <a:pt x="2935" y="35169"/>
                  </a:cubicBezTo>
                  <a:lnTo>
                    <a:pt x="76976" y="499"/>
                  </a:lnTo>
                  <a:cubicBezTo>
                    <a:pt x="79516" y="-717"/>
                    <a:pt x="82564" y="378"/>
                    <a:pt x="83834" y="2811"/>
                  </a:cubicBezTo>
                  <a:cubicBezTo>
                    <a:pt x="85104" y="5244"/>
                    <a:pt x="83961" y="8163"/>
                    <a:pt x="81421" y="938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4886325" y="1795948"/>
            <a:ext cx="4944323" cy="514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3375" spc="23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Problem Statement 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5350059" y="2972448"/>
            <a:ext cx="49139" cy="368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342811" y="4893640"/>
            <a:ext cx="43063" cy="353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687" spc="11">
                <a:solidFill>
                  <a:srgbClr val="C7CDD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377692" y="4684872"/>
            <a:ext cx="3646165" cy="165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6353" indent="-138176" lvl="1">
              <a:lnSpc>
                <a:spcPts val="2716"/>
              </a:lnSpc>
              <a:buFont typeface="Arial"/>
              <a:buChar char="•"/>
            </a:pPr>
            <a:r>
              <a:rPr lang="en-US" sz="128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Items must not overlap</a:t>
            </a:r>
          </a:p>
          <a:p>
            <a:pPr algn="l" marL="276353" indent="-138176" lvl="1">
              <a:lnSpc>
                <a:spcPts val="2716"/>
              </a:lnSpc>
              <a:buFont typeface="Arial"/>
              <a:buChar char="•"/>
            </a:pPr>
            <a:r>
              <a:rPr lang="en-US" sz="128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It must stay within suitcase boundaries</a:t>
            </a:r>
          </a:p>
          <a:p>
            <a:pPr algn="l" marL="275988" indent="-137994" lvl="1">
              <a:lnSpc>
                <a:spcPts val="2712"/>
              </a:lnSpc>
              <a:buFont typeface="Arial"/>
              <a:buChar char="•"/>
            </a:pPr>
            <a:r>
              <a:rPr lang="en-US" sz="1278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Items may be rotated in different orientations</a:t>
            </a:r>
          </a:p>
          <a:p>
            <a:pPr algn="l">
              <a:lnSpc>
                <a:spcPts val="2531"/>
              </a:lnSpc>
            </a:pPr>
          </a:p>
        </p:txBody>
      </p:sp>
      <p:sp>
        <p:nvSpPr>
          <p:cNvPr name="TextBox 70" id="70"/>
          <p:cNvSpPr txBox="true"/>
          <p:nvPr/>
        </p:nvSpPr>
        <p:spPr>
          <a:xfrm rot="0">
            <a:off x="6354366" y="7008190"/>
            <a:ext cx="43063" cy="353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687" spc="11">
                <a:solidFill>
                  <a:srgbClr val="C7CDD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4908599" y="6730865"/>
            <a:ext cx="4068008" cy="140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</a:p>
          <a:p>
            <a:pPr algn="l" marL="291465" indent="-145733" lvl="1">
              <a:lnSpc>
                <a:spcPts val="2864"/>
              </a:lnSpc>
              <a:buFont typeface="Arial"/>
              <a:buChar char="•"/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A suitc</a:t>
            </a: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ase with fixed width, breadth, and height</a:t>
            </a:r>
          </a:p>
          <a:p>
            <a:pPr algn="l" marL="291465" indent="-145733" lvl="1">
              <a:lnSpc>
                <a:spcPts val="2864"/>
              </a:lnSpc>
              <a:buFont typeface="Arial"/>
              <a:buChar char="•"/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A set of items with different dimensions</a:t>
            </a:r>
          </a:p>
          <a:p>
            <a:pPr algn="l">
              <a:lnSpc>
                <a:spcPts val="2864"/>
              </a:lnSpc>
            </a:pPr>
          </a:p>
        </p:txBody>
      </p:sp>
      <p:sp>
        <p:nvSpPr>
          <p:cNvPr name="TextBox 72" id="72"/>
          <p:cNvSpPr txBox="true"/>
          <p:nvPr/>
        </p:nvSpPr>
        <p:spPr>
          <a:xfrm rot="0">
            <a:off x="8933545" y="4893640"/>
            <a:ext cx="43063" cy="353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687" spc="11">
                <a:solidFill>
                  <a:srgbClr val="C7CDD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8119108" y="4766796"/>
            <a:ext cx="2774311" cy="1247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6353" indent="-138176" lvl="1">
              <a:lnSpc>
                <a:spcPts val="2716"/>
              </a:lnSpc>
              <a:buFont typeface="Arial"/>
              <a:buChar char="•"/>
            </a:pPr>
            <a:r>
              <a:rPr lang="en-US" sz="128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Trave</a:t>
            </a:r>
            <a:r>
              <a:rPr lang="en-US" sz="128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l luggage packing</a:t>
            </a:r>
          </a:p>
          <a:p>
            <a:pPr algn="l" marL="276353" indent="-138176" lvl="1">
              <a:lnSpc>
                <a:spcPts val="2716"/>
              </a:lnSpc>
              <a:buFont typeface="Arial"/>
              <a:buChar char="•"/>
            </a:pPr>
            <a:r>
              <a:rPr lang="en-US" sz="128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Warehouse storage optimization</a:t>
            </a:r>
          </a:p>
          <a:p>
            <a:pPr algn="l" marL="276353" indent="-138176" lvl="1">
              <a:lnSpc>
                <a:spcPts val="2716"/>
              </a:lnSpc>
              <a:buFont typeface="Arial"/>
              <a:buChar char="•"/>
            </a:pPr>
            <a:r>
              <a:rPr lang="en-US" sz="128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Shipp</a:t>
            </a:r>
            <a:r>
              <a:rPr lang="en-US" sz="128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ing and logistics</a:t>
            </a:r>
          </a:p>
          <a:p>
            <a:pPr algn="l">
              <a:lnSpc>
                <a:spcPts val="1409"/>
              </a:lnSpc>
            </a:pPr>
          </a:p>
        </p:txBody>
      </p:sp>
      <p:sp>
        <p:nvSpPr>
          <p:cNvPr name="TextBox 74" id="74"/>
          <p:cNvSpPr txBox="true"/>
          <p:nvPr/>
        </p:nvSpPr>
        <p:spPr>
          <a:xfrm rot="0">
            <a:off x="4809277" y="2527764"/>
            <a:ext cx="6084141" cy="131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Packing items efficiently into a suitcase is a common optimization problem in logistics and daily life.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Objective:</a:t>
            </a:r>
          </a:p>
          <a:p>
            <a:pPr algn="l" marL="291465" indent="-145733" lvl="1">
              <a:lnSpc>
                <a:spcPts val="2174"/>
              </a:lnSpc>
              <a:buFont typeface="Arial"/>
              <a:buChar char="•"/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Maximize the number of items packed</a:t>
            </a:r>
          </a:p>
          <a:p>
            <a:pPr algn="l">
              <a:lnSpc>
                <a:spcPts val="2174"/>
              </a:lnSpc>
            </a:pPr>
          </a:p>
        </p:txBody>
      </p:sp>
      <p:sp>
        <p:nvSpPr>
          <p:cNvPr name="TextBox 75" id="75"/>
          <p:cNvSpPr txBox="true"/>
          <p:nvPr/>
        </p:nvSpPr>
        <p:spPr>
          <a:xfrm rot="0">
            <a:off x="5577602" y="4240187"/>
            <a:ext cx="1573530" cy="38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2287" spc="16">
                <a:solidFill>
                  <a:srgbClr val="C7CDD6"/>
                </a:solidFill>
                <a:latin typeface="Open Sans"/>
                <a:ea typeface="Open Sans"/>
                <a:cs typeface="Open Sans"/>
                <a:sym typeface="Open Sans"/>
              </a:rPr>
              <a:t>Constraints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5883383" y="6564178"/>
            <a:ext cx="576858" cy="28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spc="11">
                <a:solidFill>
                  <a:srgbClr val="C7CDD6"/>
                </a:solidFill>
                <a:latin typeface="Open Sans"/>
                <a:ea typeface="Open Sans"/>
                <a:cs typeface="Open Sans"/>
                <a:sym typeface="Open Sans"/>
              </a:rPr>
              <a:t>Given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106319" y="4342934"/>
            <a:ext cx="1297305" cy="28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spc="11">
                <a:solidFill>
                  <a:srgbClr val="C7CDD6"/>
                </a:solidFill>
                <a:latin typeface="Open Sans"/>
                <a:ea typeface="Open Sans"/>
                <a:cs typeface="Open Sans"/>
                <a:sym typeface="Open Sans"/>
              </a:rPr>
              <a:t>App</a:t>
            </a:r>
            <a:r>
              <a:rPr lang="en-US" sz="1687" spc="11">
                <a:solidFill>
                  <a:srgbClr val="C7CDD6"/>
                </a:solidFill>
                <a:latin typeface="Open Sans"/>
                <a:ea typeface="Open Sans"/>
                <a:cs typeface="Open Sans"/>
                <a:sym typeface="Open Sans"/>
              </a:rPr>
              <a:t>lications: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3750" y="1619202"/>
            <a:ext cx="4286250" cy="6438643"/>
            <a:chOff x="0" y="0"/>
            <a:chExt cx="5715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996" t="0" r="-3799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34088" y="5841895"/>
            <a:ext cx="1150394" cy="272850"/>
          </a:xfrm>
          <a:custGeom>
            <a:avLst/>
            <a:gdLst/>
            <a:ahLst/>
            <a:cxnLst/>
            <a:rect r="r" b="b" t="t" l="l"/>
            <a:pathLst>
              <a:path h="272850" w="1150394">
                <a:moveTo>
                  <a:pt x="0" y="0"/>
                </a:moveTo>
                <a:lnTo>
                  <a:pt x="1150395" y="0"/>
                </a:lnTo>
                <a:lnTo>
                  <a:pt x="1150395" y="272850"/>
                </a:lnTo>
                <a:lnTo>
                  <a:pt x="0" y="2728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0075" y="2786396"/>
            <a:ext cx="3575056" cy="1059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3375" spc="23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Input and Output Specifications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1697" y="4016769"/>
            <a:ext cx="51673" cy="567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2025" spc="14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0075" y="4226319"/>
            <a:ext cx="1584408" cy="357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spc="14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Input</a:t>
            </a:r>
            <a:r>
              <a:rPr lang="en-US" sz="202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25" spc="14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Format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90502" y="4150119"/>
            <a:ext cx="1822847" cy="43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025" spc="14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Output Format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52635" y="4629645"/>
            <a:ext cx="49139" cy="368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6282" y="4743945"/>
            <a:ext cx="2508123" cy="2110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1465" indent="-145733" lvl="1">
              <a:lnSpc>
                <a:spcPts val="2174"/>
              </a:lnSpc>
              <a:buFont typeface="Arial"/>
              <a:buChar char="•"/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Suitcase dimensions: 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           </a:t>
            </a: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W × B × H</a:t>
            </a:r>
          </a:p>
          <a:p>
            <a:pPr algn="l" marL="291465" indent="-145733" lvl="1">
              <a:lnSpc>
                <a:spcPts val="2174"/>
              </a:lnSpc>
              <a:buFont typeface="Arial"/>
              <a:buChar char="•"/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Number of items: N</a:t>
            </a:r>
          </a:p>
          <a:p>
            <a:pPr algn="l" marL="291465" indent="-145733" lvl="1">
              <a:lnSpc>
                <a:spcPts val="2174"/>
              </a:lnSpc>
              <a:buFont typeface="Arial"/>
              <a:buChar char="•"/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Item dimensions: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       </a:t>
            </a:r>
          </a:p>
          <a:p>
            <a:pPr algn="l" marL="291465" indent="-145733" lvl="1">
              <a:lnSpc>
                <a:spcPts val="2174"/>
              </a:lnSpc>
              <a:buFont typeface="Arial"/>
              <a:buChar char="•"/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Each item can be rotated into 6 different orientations.</a:t>
            </a:r>
          </a:p>
          <a:p>
            <a:pPr algn="l">
              <a:lnSpc>
                <a:spcPts val="217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690566" y="4743945"/>
            <a:ext cx="2777023" cy="264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1465" indent="-145733" lvl="1">
              <a:lnSpc>
                <a:spcPts val="2174"/>
              </a:lnSpc>
              <a:buFont typeface="Arial"/>
              <a:buChar char="•"/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Maximum number of items packed</a:t>
            </a:r>
          </a:p>
          <a:p>
            <a:pPr algn="l" marL="291465" indent="-145733" lvl="1">
              <a:lnSpc>
                <a:spcPts val="2174"/>
              </a:lnSpc>
              <a:buFont typeface="Arial"/>
              <a:buChar char="•"/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Placement coordinates for each item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Coordinates represent:</a:t>
            </a:r>
          </a:p>
          <a:p>
            <a:pPr algn="l" marL="291465" indent="-145733" lvl="1">
              <a:lnSpc>
                <a:spcPts val="2174"/>
              </a:lnSpc>
              <a:buFont typeface="Arial"/>
              <a:buChar char="•"/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Bottom-front-left corner</a:t>
            </a:r>
          </a:p>
          <a:p>
            <a:pPr algn="l" marL="291465" indent="-145733" lvl="1">
              <a:lnSpc>
                <a:spcPts val="2174"/>
              </a:lnSpc>
              <a:buFont typeface="Arial"/>
              <a:buChar char="•"/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Top-back-right corner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relative to the suitcase origin (0,0,0).</a:t>
            </a:r>
          </a:p>
          <a:p>
            <a:pPr algn="l">
              <a:lnSpc>
                <a:spcPts val="217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6572" y="3051172"/>
            <a:ext cx="3013072" cy="2193922"/>
          </a:xfrm>
          <a:custGeom>
            <a:avLst/>
            <a:gdLst/>
            <a:ahLst/>
            <a:cxnLst/>
            <a:rect r="r" b="b" t="t" l="l"/>
            <a:pathLst>
              <a:path h="2193922" w="3013072">
                <a:moveTo>
                  <a:pt x="0" y="0"/>
                </a:moveTo>
                <a:lnTo>
                  <a:pt x="3013072" y="0"/>
                </a:lnTo>
                <a:lnTo>
                  <a:pt x="3013072" y="2193922"/>
                </a:lnTo>
                <a:lnTo>
                  <a:pt x="0" y="21939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94097" y="3051172"/>
            <a:ext cx="3013072" cy="2193922"/>
          </a:xfrm>
          <a:custGeom>
            <a:avLst/>
            <a:gdLst/>
            <a:ahLst/>
            <a:cxnLst/>
            <a:rect r="r" b="b" t="t" l="l"/>
            <a:pathLst>
              <a:path h="2193922" w="3013072">
                <a:moveTo>
                  <a:pt x="0" y="0"/>
                </a:moveTo>
                <a:lnTo>
                  <a:pt x="3013072" y="0"/>
                </a:lnTo>
                <a:lnTo>
                  <a:pt x="3013072" y="2193922"/>
                </a:lnTo>
                <a:lnTo>
                  <a:pt x="0" y="2193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6572" y="5289547"/>
            <a:ext cx="6070597" cy="1927222"/>
          </a:xfrm>
          <a:custGeom>
            <a:avLst/>
            <a:gdLst/>
            <a:ahLst/>
            <a:cxnLst/>
            <a:rect r="r" b="b" t="t" l="l"/>
            <a:pathLst>
              <a:path h="1927222" w="6070597">
                <a:moveTo>
                  <a:pt x="0" y="0"/>
                </a:moveTo>
                <a:lnTo>
                  <a:pt x="6070597" y="0"/>
                </a:lnTo>
                <a:lnTo>
                  <a:pt x="6070597" y="1927222"/>
                </a:lnTo>
                <a:lnTo>
                  <a:pt x="0" y="19272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02444" y="2225613"/>
            <a:ext cx="4325323" cy="5432213"/>
          </a:xfrm>
          <a:custGeom>
            <a:avLst/>
            <a:gdLst/>
            <a:ahLst/>
            <a:cxnLst/>
            <a:rect r="r" b="b" t="t" l="l"/>
            <a:pathLst>
              <a:path h="5432213" w="4325323">
                <a:moveTo>
                  <a:pt x="0" y="0"/>
                </a:moveTo>
                <a:lnTo>
                  <a:pt x="4325323" y="0"/>
                </a:lnTo>
                <a:lnTo>
                  <a:pt x="4325323" y="5432213"/>
                </a:lnTo>
                <a:lnTo>
                  <a:pt x="0" y="54322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00" t="0" r="-400" b="-22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0075" y="1815151"/>
            <a:ext cx="5556780" cy="1059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3375" spc="23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Problem Classification: NP- Hard Complexity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03079" y="3063164"/>
            <a:ext cx="81629" cy="44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1620" spc="12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43935" y="3063164"/>
            <a:ext cx="115634" cy="44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1620" spc="12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12487" y="5472989"/>
            <a:ext cx="121082" cy="276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620" spc="1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0575" y="3722218"/>
            <a:ext cx="2563773" cy="360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3"/>
              </a:lnSpc>
            </a:pPr>
            <a:r>
              <a:rPr lang="en-US" sz="1787" spc="12">
                <a:solidFill>
                  <a:srgbClr val="C7CDD6"/>
                </a:solidFill>
                <a:latin typeface="Open Sans"/>
                <a:ea typeface="Open Sans"/>
                <a:cs typeface="Open Sans"/>
                <a:sym typeface="Open Sans"/>
              </a:rPr>
              <a:t>3D Bin Packing Problem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0542" y="6334925"/>
            <a:ext cx="49139" cy="320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48100" y="3615468"/>
            <a:ext cx="2303383" cy="353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687" spc="11">
                <a:solidFill>
                  <a:srgbClr val="C7CDD6"/>
                </a:solidFill>
                <a:latin typeface="Open Sans"/>
                <a:ea typeface="Open Sans"/>
                <a:cs typeface="Open Sans"/>
                <a:sym typeface="Open Sans"/>
              </a:rPr>
              <a:t>NP-Hard Classification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80072" y="4096550"/>
            <a:ext cx="49139" cy="320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5085" y="4311726"/>
            <a:ext cx="2434752" cy="656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648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Classified as an </a:t>
            </a:r>
          </a:p>
          <a:p>
            <a:pPr algn="l">
              <a:lnSpc>
                <a:spcPts val="2656"/>
              </a:lnSpc>
            </a:pPr>
            <a:r>
              <a:rPr lang="en-US" sz="1648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NP-Hard problem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14984" y="4035501"/>
            <a:ext cx="2562314" cy="777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4"/>
              </a:lnSpc>
            </a:pPr>
            <a:r>
              <a:rPr lang="en-US" sz="1299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No known polynomial-time algorithm </a:t>
            </a:r>
            <a:r>
              <a:rPr lang="en-US" sz="1299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exists for solving </a:t>
            </a:r>
          </a:p>
          <a:p>
            <a:pPr algn="l">
              <a:lnSpc>
                <a:spcPts val="2255"/>
              </a:lnSpc>
            </a:pPr>
            <a:r>
              <a:rPr lang="en-US" sz="1399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all instances optimally.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0075" y="7292969"/>
            <a:ext cx="5810339" cy="680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6"/>
              </a:lnSpc>
            </a:pPr>
            <a:r>
              <a:rPr lang="en-US" sz="1426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For N items, there are 6ᴺ possible orientation combinations, making </a:t>
            </a:r>
          </a:p>
          <a:p>
            <a:pPr algn="l">
              <a:lnSpc>
                <a:spcPts val="1030"/>
              </a:lnSpc>
            </a:pPr>
            <a:r>
              <a:rPr lang="en-US" sz="1426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brute-force approaches infeasible for large 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4820" y="5863781"/>
            <a:ext cx="6007094" cy="111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8"/>
              </a:lnSpc>
              <a:spcBef>
                <a:spcPct val="0"/>
              </a:spcBef>
            </a:pPr>
            <a:r>
              <a:rPr lang="en-US" sz="1612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Characte</a:t>
            </a:r>
            <a:r>
              <a:rPr lang="en-US" sz="1612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ristics:</a:t>
            </a:r>
          </a:p>
          <a:p>
            <a:pPr algn="ctr" marL="283464" indent="-141732" lvl="1">
              <a:lnSpc>
                <a:spcPts val="2115"/>
              </a:lnSpc>
              <a:spcBef>
                <a:spcPct val="0"/>
              </a:spcBef>
              <a:buFont typeface="Arial"/>
              <a:buChar char="•"/>
            </a:pPr>
            <a:r>
              <a:rPr lang="en-US" sz="1312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Items must be arranged in three-dimensional space</a:t>
            </a:r>
          </a:p>
          <a:p>
            <a:pPr algn="ctr" marL="283464" indent="-141732" lvl="1">
              <a:lnSpc>
                <a:spcPts val="2115"/>
              </a:lnSpc>
              <a:spcBef>
                <a:spcPct val="0"/>
              </a:spcBef>
              <a:buFont typeface="Arial"/>
              <a:buChar char="•"/>
            </a:pPr>
            <a:r>
              <a:rPr lang="en-US" sz="1312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Objective is optimal space utilization</a:t>
            </a:r>
          </a:p>
          <a:p>
            <a:pPr algn="ctr">
              <a:lnSpc>
                <a:spcPts val="2115"/>
              </a:lnSpc>
              <a:spcBef>
                <a:spcPct val="0"/>
              </a:spcBef>
            </a:pPr>
            <a:r>
              <a:rPr lang="en-US" sz="1312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Therefore, intelligent search methods such as Backtracking are used</a:t>
            </a:r>
            <a:r>
              <a:rPr lang="en-US" sz="13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5924599" y="2552749"/>
            <a:ext cx="6439205" cy="4571598"/>
          </a:xfrm>
          <a:custGeom>
            <a:avLst/>
            <a:gdLst/>
            <a:ahLst/>
            <a:cxnLst/>
            <a:rect r="r" b="b" t="t" l="l"/>
            <a:pathLst>
              <a:path h="4571598" w="6439205">
                <a:moveTo>
                  <a:pt x="0" y="0"/>
                </a:moveTo>
                <a:lnTo>
                  <a:pt x="6439204" y="0"/>
                </a:lnTo>
                <a:lnTo>
                  <a:pt x="6439204" y="4571598"/>
                </a:lnTo>
                <a:lnTo>
                  <a:pt x="0" y="4571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53" r="-1109" b="-575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894" y="2418273"/>
            <a:ext cx="6737495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spc="23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Algorithm Overview: Backtracking Approach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3920" y="3657969"/>
            <a:ext cx="6072307" cy="3441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0472" indent="-170236" lvl="1">
              <a:lnSpc>
                <a:spcPts val="2540"/>
              </a:lnSpc>
              <a:buAutoNum type="arabicPeriod" startAt="1"/>
            </a:pPr>
            <a:r>
              <a:rPr lang="en-US" sz="1576">
                <a:solidFill>
                  <a:srgbClr val="EFD5FA"/>
                </a:solidFill>
                <a:latin typeface="Inter"/>
                <a:ea typeface="Inter"/>
                <a:cs typeface="Inter"/>
                <a:sym typeface="Inter"/>
              </a:rPr>
              <a:t>Select an item</a:t>
            </a:r>
          </a:p>
          <a:p>
            <a:pPr algn="l" marL="340472" indent="-170236" lvl="1">
              <a:lnSpc>
                <a:spcPts val="2540"/>
              </a:lnSpc>
              <a:buAutoNum type="arabicPeriod" startAt="1"/>
            </a:pPr>
            <a:r>
              <a:rPr lang="en-US" sz="1576">
                <a:solidFill>
                  <a:srgbClr val="EFD5FA"/>
                </a:solidFill>
                <a:latin typeface="Inter"/>
                <a:ea typeface="Inter"/>
                <a:cs typeface="Inter"/>
                <a:sym typeface="Inter"/>
              </a:rPr>
              <a:t>Generate all possible rotations</a:t>
            </a:r>
          </a:p>
          <a:p>
            <a:pPr algn="l" marL="340472" indent="-170236" lvl="1">
              <a:lnSpc>
                <a:spcPts val="2540"/>
              </a:lnSpc>
              <a:buAutoNum type="arabicPeriod" startAt="1"/>
            </a:pPr>
            <a:r>
              <a:rPr lang="en-US" sz="1576">
                <a:solidFill>
                  <a:srgbClr val="EFD5FA"/>
                </a:solidFill>
                <a:latin typeface="Inter"/>
                <a:ea typeface="Inter"/>
                <a:cs typeface="Inter"/>
                <a:sym typeface="Inter"/>
              </a:rPr>
              <a:t>Try placing the item in all valid positions</a:t>
            </a:r>
          </a:p>
          <a:p>
            <a:pPr algn="l" marL="340472" indent="-170236" lvl="1">
              <a:lnSpc>
                <a:spcPts val="2540"/>
              </a:lnSpc>
              <a:buAutoNum type="arabicPeriod" startAt="1"/>
            </a:pPr>
            <a:r>
              <a:rPr lang="en-US" sz="1576">
                <a:solidFill>
                  <a:srgbClr val="EFD5FA"/>
                </a:solidFill>
                <a:latin typeface="Inter"/>
                <a:ea typeface="Inter"/>
                <a:cs typeface="Inter"/>
                <a:sym typeface="Inter"/>
              </a:rPr>
              <a:t>Check:</a:t>
            </a:r>
          </a:p>
          <a:p>
            <a:pPr algn="l" marL="680943" indent="-226981" lvl="2">
              <a:lnSpc>
                <a:spcPts val="2540"/>
              </a:lnSpc>
              <a:spcBef>
                <a:spcPct val="0"/>
              </a:spcBef>
              <a:buFont typeface="Arial"/>
              <a:buChar char="⚬"/>
            </a:pPr>
            <a:r>
              <a:rPr lang="en-US" sz="1576">
                <a:solidFill>
                  <a:srgbClr val="EFD5FA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n-US" sz="1576">
                <a:solidFill>
                  <a:srgbClr val="EFD5FA"/>
                </a:solidFill>
                <a:latin typeface="Inter"/>
                <a:ea typeface="Inter"/>
                <a:cs typeface="Inter"/>
                <a:sym typeface="Inter"/>
              </a:rPr>
              <a:t>oundary constraints</a:t>
            </a:r>
          </a:p>
          <a:p>
            <a:pPr algn="l" marL="680943" indent="-226981" lvl="2">
              <a:lnSpc>
                <a:spcPts val="2540"/>
              </a:lnSpc>
              <a:spcBef>
                <a:spcPct val="0"/>
              </a:spcBef>
              <a:buFont typeface="Arial"/>
              <a:buChar char="⚬"/>
            </a:pPr>
            <a:r>
              <a:rPr lang="en-US" sz="1576">
                <a:solidFill>
                  <a:srgbClr val="EFD5FA"/>
                </a:solidFill>
                <a:latin typeface="Inter"/>
                <a:ea typeface="Inter"/>
                <a:cs typeface="Inter"/>
                <a:sym typeface="Inter"/>
              </a:rPr>
              <a:t>overlap with other items</a:t>
            </a:r>
          </a:p>
          <a:p>
            <a:pPr algn="l" marL="340472" indent="-170236" lvl="1">
              <a:lnSpc>
                <a:spcPts val="2540"/>
              </a:lnSpc>
              <a:spcBef>
                <a:spcPct val="0"/>
              </a:spcBef>
              <a:buAutoNum type="arabicPeriod" startAt="1"/>
            </a:pPr>
            <a:r>
              <a:rPr lang="en-US" sz="1576">
                <a:solidFill>
                  <a:srgbClr val="EFD5FA"/>
                </a:solidFill>
                <a:latin typeface="Inter"/>
                <a:ea typeface="Inter"/>
                <a:cs typeface="Inter"/>
                <a:sym typeface="Inter"/>
              </a:rPr>
              <a:t>If valid → place item and continue recursively</a:t>
            </a:r>
          </a:p>
          <a:p>
            <a:pPr algn="l" marL="340472" indent="-170236" lvl="1">
              <a:lnSpc>
                <a:spcPts val="2540"/>
              </a:lnSpc>
              <a:spcBef>
                <a:spcPct val="0"/>
              </a:spcBef>
              <a:buAutoNum type="arabicPeriod" startAt="1"/>
            </a:pPr>
            <a:r>
              <a:rPr lang="en-US" sz="1576">
                <a:solidFill>
                  <a:srgbClr val="EFD5FA"/>
                </a:solidFill>
                <a:latin typeface="Inter"/>
                <a:ea typeface="Inter"/>
                <a:cs typeface="Inter"/>
                <a:sym typeface="Inter"/>
              </a:rPr>
              <a:t>If not valid → try another configuration</a:t>
            </a:r>
          </a:p>
          <a:p>
            <a:pPr algn="l" marL="340472" indent="-170236" lvl="1">
              <a:lnSpc>
                <a:spcPts val="2540"/>
              </a:lnSpc>
              <a:spcBef>
                <a:spcPct val="0"/>
              </a:spcBef>
              <a:buAutoNum type="arabicPeriod" startAt="1"/>
            </a:pPr>
            <a:r>
              <a:rPr lang="en-US" sz="1576">
                <a:solidFill>
                  <a:srgbClr val="EFD5FA"/>
                </a:solidFill>
                <a:latin typeface="Inter"/>
                <a:ea typeface="Inter"/>
                <a:cs typeface="Inter"/>
                <a:sym typeface="Inter"/>
              </a:rPr>
              <a:t>Track the best solution found</a:t>
            </a:r>
          </a:p>
          <a:p>
            <a:pPr algn="l">
              <a:lnSpc>
                <a:spcPts val="2540"/>
              </a:lnSpc>
              <a:spcBef>
                <a:spcPct val="0"/>
              </a:spcBef>
            </a:pPr>
            <a:r>
              <a:rPr lang="en-US" sz="1576">
                <a:solidFill>
                  <a:srgbClr val="EFD5FA"/>
                </a:solidFill>
                <a:latin typeface="Inter"/>
                <a:ea typeface="Inter"/>
                <a:cs typeface="Inter"/>
                <a:sym typeface="Inter"/>
              </a:rPr>
              <a:t>Backtracking ensures that all feasible arrangements are explored.</a:t>
            </a:r>
          </a:p>
          <a:p>
            <a:pPr algn="l">
              <a:lnSpc>
                <a:spcPts val="25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9353" y="6289443"/>
            <a:ext cx="550088" cy="574834"/>
          </a:xfrm>
          <a:custGeom>
            <a:avLst/>
            <a:gdLst/>
            <a:ahLst/>
            <a:cxnLst/>
            <a:rect r="r" b="b" t="t" l="l"/>
            <a:pathLst>
              <a:path h="574834" w="550088">
                <a:moveTo>
                  <a:pt x="0" y="0"/>
                </a:moveTo>
                <a:lnTo>
                  <a:pt x="550088" y="0"/>
                </a:lnTo>
                <a:lnTo>
                  <a:pt x="550088" y="574834"/>
                </a:lnTo>
                <a:lnTo>
                  <a:pt x="0" y="574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0410" y="2203333"/>
            <a:ext cx="547964" cy="574615"/>
          </a:xfrm>
          <a:custGeom>
            <a:avLst/>
            <a:gdLst/>
            <a:ahLst/>
            <a:cxnLst/>
            <a:rect r="r" b="b" t="t" l="l"/>
            <a:pathLst>
              <a:path h="574615" w="547964">
                <a:moveTo>
                  <a:pt x="0" y="0"/>
                </a:moveTo>
                <a:lnTo>
                  <a:pt x="547964" y="0"/>
                </a:lnTo>
                <a:lnTo>
                  <a:pt x="547964" y="574614"/>
                </a:lnTo>
                <a:lnTo>
                  <a:pt x="0" y="574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7333" y="4384624"/>
            <a:ext cx="574119" cy="574472"/>
          </a:xfrm>
          <a:custGeom>
            <a:avLst/>
            <a:gdLst/>
            <a:ahLst/>
            <a:cxnLst/>
            <a:rect r="r" b="b" t="t" l="l"/>
            <a:pathLst>
              <a:path h="574472" w="574119">
                <a:moveTo>
                  <a:pt x="0" y="0"/>
                </a:moveTo>
                <a:lnTo>
                  <a:pt x="574119" y="0"/>
                </a:lnTo>
                <a:lnTo>
                  <a:pt x="574119" y="574472"/>
                </a:lnTo>
                <a:lnTo>
                  <a:pt x="0" y="5744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0075" y="1453048"/>
            <a:ext cx="3193294" cy="583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spc="23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Key Techniques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0075" y="2836240"/>
            <a:ext cx="1374991" cy="353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687" spc="11">
                <a:solidFill>
                  <a:srgbClr val="C7CDD6"/>
                </a:solidFill>
                <a:latin typeface="Open Sans"/>
                <a:ea typeface="Open Sans"/>
                <a:cs typeface="Open Sans"/>
                <a:sym typeface="Open Sans"/>
              </a:rPr>
              <a:t>Item Rotation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8696" y="3210573"/>
            <a:ext cx="49139" cy="320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0075" y="6922465"/>
            <a:ext cx="1855680" cy="353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687" spc="11">
                <a:solidFill>
                  <a:srgbClr val="C7CDD6"/>
                </a:solidFill>
                <a:latin typeface="Open Sans"/>
                <a:ea typeface="Open Sans"/>
                <a:cs typeface="Open Sans"/>
                <a:sym typeface="Open Sans"/>
              </a:rPr>
              <a:t>Overlap Detection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76577" y="7296798"/>
            <a:ext cx="49139" cy="320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0075" y="5017465"/>
            <a:ext cx="2006298" cy="353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687" spc="11">
                <a:solidFill>
                  <a:srgbClr val="C7CDD6"/>
                </a:solidFill>
                <a:latin typeface="Open Sans"/>
                <a:ea typeface="Open Sans"/>
                <a:cs typeface="Open Sans"/>
                <a:sym typeface="Open Sans"/>
              </a:rPr>
              <a:t>Boundary Checking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33283" y="5391798"/>
            <a:ext cx="49139" cy="320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0075" y="3277248"/>
            <a:ext cx="5650125" cy="253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Eachitem can be rotated in 6 different orientations (permutations of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0075" y="3553473"/>
            <a:ext cx="5726182" cy="53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dimensions). The algorithm explores all valid rotations to find optimal placement configurations.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0075" y="5458473"/>
            <a:ext cx="5871091" cy="243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Ensures items remain within suitcase boundaries by verifying that all item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0075" y="5734698"/>
            <a:ext cx="4852869" cy="243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corners lie within the suitcase dimensions in each dimension.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5441" y="7399792"/>
            <a:ext cx="5739394" cy="77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Ch</a:t>
            </a: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ecks if two items occupy the same space.Two boxes overlap if their 3D ranges intersect in all dimensions.This prevents items from colliding.</a:t>
            </a:r>
          </a:p>
          <a:p>
            <a:pPr algn="l">
              <a:lnSpc>
                <a:spcPts val="2174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7228142" y="3129086"/>
            <a:ext cx="3508772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  <a:spcBef>
                <a:spcPct val="0"/>
              </a:spcBef>
            </a:pP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Each</a:t>
            </a: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item can be rotated into 6 orientations:</a:t>
            </a:r>
          </a:p>
          <a:p>
            <a:pPr algn="ctr">
              <a:lnSpc>
                <a:spcPts val="1889"/>
              </a:lnSpc>
              <a:spcBef>
                <a:spcPct val="0"/>
              </a:spcBef>
            </a:pP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(W,B,H)</a:t>
            </a:r>
          </a:p>
          <a:p>
            <a:pPr algn="ctr">
              <a:lnSpc>
                <a:spcPts val="1889"/>
              </a:lnSpc>
              <a:spcBef>
                <a:spcPct val="0"/>
              </a:spcBef>
            </a:pP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(W,H,B)</a:t>
            </a:r>
          </a:p>
          <a:p>
            <a:pPr algn="ctr">
              <a:lnSpc>
                <a:spcPts val="1889"/>
              </a:lnSpc>
              <a:spcBef>
                <a:spcPct val="0"/>
              </a:spcBef>
            </a:pP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(B,W,H)</a:t>
            </a:r>
          </a:p>
          <a:p>
            <a:pPr algn="ctr">
              <a:lnSpc>
                <a:spcPts val="1889"/>
              </a:lnSpc>
              <a:spcBef>
                <a:spcPct val="0"/>
              </a:spcBef>
            </a:pP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(B,H,W)</a:t>
            </a:r>
          </a:p>
          <a:p>
            <a:pPr algn="ctr">
              <a:lnSpc>
                <a:spcPts val="1889"/>
              </a:lnSpc>
              <a:spcBef>
                <a:spcPct val="0"/>
              </a:spcBef>
            </a:pP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(H,W,B)</a:t>
            </a:r>
          </a:p>
          <a:p>
            <a:pPr algn="ctr">
              <a:lnSpc>
                <a:spcPts val="1889"/>
              </a:lnSpc>
              <a:spcBef>
                <a:spcPct val="0"/>
              </a:spcBef>
            </a:pP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(H,B,W)</a:t>
            </a:r>
          </a:p>
          <a:p>
            <a:pPr algn="ctr">
              <a:lnSpc>
                <a:spcPts val="188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300865" y="5861390"/>
            <a:ext cx="3363325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  <a:spcBef>
                <a:spcPct val="0"/>
              </a:spcBef>
            </a:pP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ondition:</a:t>
            </a:r>
          </a:p>
          <a:p>
            <a:pPr algn="ctr">
              <a:lnSpc>
                <a:spcPts val="1889"/>
              </a:lnSpc>
              <a:spcBef>
                <a:spcPct val="0"/>
              </a:spcBef>
            </a:pP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x + width ≤ suitcase width</a:t>
            </a:r>
          </a:p>
          <a:p>
            <a:pPr algn="ctr">
              <a:lnSpc>
                <a:spcPts val="1889"/>
              </a:lnSpc>
              <a:spcBef>
                <a:spcPct val="0"/>
              </a:spcBef>
            </a:pP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 + breadth ≤ suitcase breadth</a:t>
            </a:r>
          </a:p>
          <a:p>
            <a:pPr algn="ctr">
              <a:lnSpc>
                <a:spcPts val="1889"/>
              </a:lnSpc>
              <a:spcBef>
                <a:spcPct val="0"/>
              </a:spcBef>
            </a:pP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z + height ≤ suitcase height</a:t>
            </a:r>
          </a:p>
          <a:p>
            <a:pPr algn="ctr">
              <a:lnSpc>
                <a:spcPts val="18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3750" y="1333348"/>
            <a:ext cx="4286250" cy="7010400"/>
            <a:chOff x="0" y="0"/>
            <a:chExt cx="5715000" cy="934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5000" cy="9347200"/>
            </a:xfrm>
            <a:custGeom>
              <a:avLst/>
              <a:gdLst/>
              <a:ahLst/>
              <a:cxnLst/>
              <a:rect r="r" b="b" t="t" l="l"/>
              <a:pathLst>
                <a:path h="93472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9347200"/>
                  </a:lnTo>
                  <a:lnTo>
                    <a:pt x="0" y="934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562" t="0" r="-36562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00075" y="1834048"/>
            <a:ext cx="4542968" cy="1059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3375" spc="23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Optimization: Pruning Technique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0224" y="3010548"/>
            <a:ext cx="49139" cy="368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24485" y="5246065"/>
            <a:ext cx="43063" cy="343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1687" spc="11">
                <a:solidFill>
                  <a:srgbClr val="C7CDD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1040" y="3124848"/>
            <a:ext cx="5516012" cy="77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Backtracking can explore many configurations.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To improve efficiency, pruning is used.</a:t>
            </a:r>
          </a:p>
          <a:p>
            <a:pPr algn="l">
              <a:lnSpc>
                <a:spcPts val="217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399014" y="3969715"/>
            <a:ext cx="43063" cy="353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687" spc="11">
                <a:solidFill>
                  <a:srgbClr val="C7CDD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3991661"/>
            <a:ext cx="6607169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0"/>
              </a:lnSpc>
            </a:pP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Pruning Rule:</a:t>
            </a:r>
          </a:p>
          <a:p>
            <a:pPr algn="ctr">
              <a:lnSpc>
                <a:spcPts val="1890"/>
              </a:lnSpc>
            </a:pPr>
          </a:p>
          <a:p>
            <a:pPr algn="ctr">
              <a:lnSpc>
                <a:spcPts val="1890"/>
              </a:lnSpc>
            </a:pP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currentPackedItems + remainingItems ≤ bestPackedItems</a:t>
            </a:r>
          </a:p>
          <a:p>
            <a:pPr algn="ctr">
              <a:lnSpc>
                <a:spcPts val="189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67810" y="5000003"/>
            <a:ext cx="6775940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50"/>
              </a:lnSpc>
            </a:pPr>
            <a:r>
              <a:rPr lang="en-US" sz="1250">
                <a:solidFill>
                  <a:srgbClr val="EFD5FA"/>
                </a:solidFill>
                <a:latin typeface="Inter"/>
                <a:ea typeface="Inter"/>
                <a:cs typeface="Inter"/>
                <a:sym typeface="Inter"/>
              </a:rPr>
              <a:t>if this condition is satisfied then this branch cannot produce a better solution.</a:t>
            </a:r>
          </a:p>
          <a:p>
            <a:pPr algn="just">
              <a:lnSpc>
                <a:spcPts val="1750"/>
              </a:lnSpc>
            </a:pPr>
            <a:r>
              <a:rPr lang="en-US" sz="1250">
                <a:solidFill>
                  <a:srgbClr val="EFD5FA"/>
                </a:solidFill>
                <a:latin typeface="Inter"/>
                <a:ea typeface="Inter"/>
                <a:cs typeface="Inter"/>
                <a:sym typeface="Inter"/>
              </a:rPr>
              <a:t>So the algorithm stops exploring that branch.</a:t>
            </a:r>
          </a:p>
          <a:p>
            <a:pPr algn="just">
              <a:lnSpc>
                <a:spcPts val="175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27721" y="5901703"/>
            <a:ext cx="5914788" cy="1413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0"/>
              </a:lnSpc>
            </a:pP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Benefits:</a:t>
            </a:r>
          </a:p>
          <a:p>
            <a:pPr algn="ctr">
              <a:lnSpc>
                <a:spcPts val="1890"/>
              </a:lnSpc>
            </a:pPr>
          </a:p>
          <a:p>
            <a:pPr algn="l" marL="291465" indent="-145733" lvl="1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</a:t>
            </a: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uces unnecessary computations</a:t>
            </a:r>
          </a:p>
          <a:p>
            <a:pPr algn="l" marL="291465" indent="-145733" lvl="1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Speeds up the search process</a:t>
            </a:r>
          </a:p>
          <a:p>
            <a:pPr algn="l" marL="291465" indent="-145733" lvl="1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Maintains optimal solution guarantee</a:t>
            </a:r>
          </a:p>
          <a:p>
            <a:pPr algn="ctr">
              <a:lnSpc>
                <a:spcPts val="189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242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2069" y="2507727"/>
            <a:ext cx="349531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spc="23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Time Complexity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74660" y="4905918"/>
            <a:ext cx="49187" cy="206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8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33760" y="4905918"/>
            <a:ext cx="49187" cy="206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8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14106" y="4905918"/>
            <a:ext cx="49187" cy="206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8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3848" y="4163131"/>
            <a:ext cx="2907545" cy="60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4"/>
              </a:lnSpc>
              <a:spcBef>
                <a:spcPct val="0"/>
              </a:spcBef>
            </a:pPr>
            <a:r>
              <a:rPr lang="en-US" sz="173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items</a:t>
            </a:r>
            <a:r>
              <a:rPr lang="en-US" sz="173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× rotations × positions</a:t>
            </a:r>
          </a:p>
          <a:p>
            <a:pPr algn="ctr">
              <a:lnSpc>
                <a:spcPts val="2434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523848" y="3414537"/>
            <a:ext cx="2327759" cy="64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0"/>
              </a:lnSpc>
              <a:spcBef>
                <a:spcPct val="0"/>
              </a:spcBef>
            </a:pPr>
            <a:r>
              <a:rPr lang="en-US" sz="381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O((6×P)N)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3848" y="4790923"/>
            <a:ext cx="3004879" cy="117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4"/>
              </a:lnSpc>
            </a:pPr>
            <a:r>
              <a:rPr lang="en-US" sz="226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6- number of rotations</a:t>
            </a:r>
          </a:p>
          <a:p>
            <a:pPr algn="ctr">
              <a:lnSpc>
                <a:spcPts val="3164"/>
              </a:lnSpc>
            </a:pPr>
            <a:r>
              <a:rPr lang="en-US" sz="226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 - Positions</a:t>
            </a:r>
          </a:p>
          <a:p>
            <a:pPr algn="ctr">
              <a:lnSpc>
                <a:spcPts val="3164"/>
              </a:lnSpc>
              <a:spcBef>
                <a:spcPct val="0"/>
              </a:spcBef>
            </a:pPr>
            <a:r>
              <a:rPr lang="en-US" sz="226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N- number of items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75984" y="2507727"/>
            <a:ext cx="369450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spc="23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Space </a:t>
            </a:r>
            <a:r>
              <a:rPr lang="en-US" sz="3375" spc="23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Complexity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88989" y="3414537"/>
            <a:ext cx="1068498" cy="64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0"/>
              </a:lnSpc>
              <a:spcBef>
                <a:spcPct val="0"/>
              </a:spcBef>
            </a:pPr>
            <a:r>
              <a:rPr lang="en-US" sz="381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O(N)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37222" y="4435232"/>
            <a:ext cx="2953768" cy="156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4"/>
              </a:lnSpc>
            </a:pPr>
            <a:r>
              <a:rPr lang="en-US" sz="226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O(N) due to recursion and placement tracking.</a:t>
            </a:r>
          </a:p>
          <a:p>
            <a:pPr algn="ctr">
              <a:lnSpc>
                <a:spcPts val="3164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778107" y="6327355"/>
            <a:ext cx="8341944" cy="117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4"/>
              </a:lnSpc>
            </a:pPr>
            <a:r>
              <a:rPr lang="en-US" sz="226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Since the suitcase packing problem is NP-Hard, the backtracking algorithm explores multiple placement combinations, leading to exponential worst-case complexity.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3750" y="1619202"/>
            <a:ext cx="4286250" cy="6438643"/>
            <a:chOff x="0" y="0"/>
            <a:chExt cx="5715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5" t="-3" r="-2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38175" y="5447995"/>
            <a:ext cx="57150" cy="57150"/>
            <a:chOff x="0" y="0"/>
            <a:chExt cx="57150" cy="57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C7CDD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8175" y="5781370"/>
            <a:ext cx="57150" cy="57150"/>
            <a:chOff x="0" y="0"/>
            <a:chExt cx="5715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C7CDD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38175" y="6114745"/>
            <a:ext cx="57150" cy="57150"/>
            <a:chOff x="0" y="0"/>
            <a:chExt cx="5715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C7CDD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829050" y="5447995"/>
            <a:ext cx="57150" cy="57150"/>
            <a:chOff x="0" y="0"/>
            <a:chExt cx="57150" cy="571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C7CDD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829050" y="5781370"/>
            <a:ext cx="57150" cy="57150"/>
            <a:chOff x="0" y="0"/>
            <a:chExt cx="57150" cy="57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C7CD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829050" y="6114745"/>
            <a:ext cx="57150" cy="57150"/>
            <a:chOff x="0" y="0"/>
            <a:chExt cx="5715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C7CD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00075" y="2510171"/>
            <a:ext cx="5436175" cy="1059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3375" spc="23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Example Input and Output Demonstration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1697" y="3740544"/>
            <a:ext cx="51673" cy="567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2025" spc="14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0075" y="3873894"/>
            <a:ext cx="1760953" cy="43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025" spc="14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Input</a:t>
            </a:r>
            <a:r>
              <a:rPr lang="en-US" sz="202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25" spc="14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Example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4249" y="4353420"/>
            <a:ext cx="49139" cy="368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90502" y="3873894"/>
            <a:ext cx="1860099" cy="43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025" spc="14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Sample</a:t>
            </a:r>
            <a:r>
              <a:rPr lang="en-US" sz="202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25" spc="14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Output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56999" y="4355478"/>
            <a:ext cx="41443" cy="368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1350">
                <a:solidFill>
                  <a:srgbClr val="C7CDD6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0075" y="4353420"/>
            <a:ext cx="2121389" cy="79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1350">
                <a:solidFill>
                  <a:srgbClr val="C7CDD6"/>
                </a:solidFill>
                <a:latin typeface="Inter Bold"/>
                <a:ea typeface="Inter Bold"/>
                <a:cs typeface="Inter Bold"/>
                <a:sym typeface="Inter Bold"/>
              </a:rPr>
              <a:t>Suitcase:</a:t>
            </a: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5 × 5 × 5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units </a:t>
            </a:r>
            <a:r>
              <a:rPr lang="en-US" b="true" sz="1350">
                <a:solidFill>
                  <a:srgbClr val="C7CDD6"/>
                </a:solidFill>
                <a:latin typeface="Inter Bold"/>
                <a:ea typeface="Inter Bold"/>
                <a:cs typeface="Inter Bold"/>
                <a:sym typeface="Inter Bold"/>
              </a:rPr>
              <a:t>Items: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4214" y="5229720"/>
            <a:ext cx="1391066" cy="1349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091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Item 1:   3 × 2</a:t>
            </a:r>
            <a:r>
              <a:rPr lang="en-US" sz="1091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× 1</a:t>
            </a:r>
          </a:p>
          <a:p>
            <a:pPr algn="l">
              <a:lnSpc>
                <a:spcPts val="2729"/>
              </a:lnSpc>
            </a:pPr>
            <a:r>
              <a:rPr lang="en-US" sz="1091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Item 2</a:t>
            </a:r>
            <a:r>
              <a:rPr lang="en-US" sz="1091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:   2 × 2 × 2</a:t>
            </a:r>
          </a:p>
          <a:p>
            <a:pPr algn="l">
              <a:lnSpc>
                <a:spcPts val="2729"/>
              </a:lnSpc>
            </a:pPr>
            <a:r>
              <a:rPr lang="en-US" sz="1091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Item 3:    1 × 1 × 1</a:t>
            </a:r>
          </a:p>
          <a:p>
            <a:pPr algn="l">
              <a:lnSpc>
                <a:spcPts val="272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3790502" y="4353420"/>
            <a:ext cx="1876306" cy="36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1350">
                <a:solidFill>
                  <a:srgbClr val="C7CDD6"/>
                </a:solidFill>
                <a:latin typeface="Inter Bold"/>
                <a:ea typeface="Inter Bold"/>
                <a:cs typeface="Inter Bold"/>
                <a:sym typeface="Inter Bold"/>
              </a:rPr>
              <a:t>Items</a:t>
            </a:r>
            <a:r>
              <a:rPr lang="en-US" b="true" sz="135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350">
                <a:solidFill>
                  <a:srgbClr val="C7CDD6"/>
                </a:solidFill>
                <a:latin typeface="Inter Bold"/>
                <a:ea typeface="Inter Bold"/>
                <a:cs typeface="Inter Bold"/>
                <a:sym typeface="Inter Bold"/>
              </a:rPr>
              <a:t>Packed: all three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90502" y="4784103"/>
            <a:ext cx="848277" cy="368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1350">
                <a:solidFill>
                  <a:srgbClr val="C7CDD6"/>
                </a:solidFill>
                <a:latin typeface="Inter Bold"/>
                <a:ea typeface="Inter Bold"/>
                <a:cs typeface="Inter Bold"/>
                <a:sym typeface="Inter Bold"/>
              </a:rPr>
              <a:t>Positions: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64651" y="5220195"/>
            <a:ext cx="1884711" cy="132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1129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Item 1 → (0,0,0)</a:t>
            </a:r>
          </a:p>
          <a:p>
            <a:pPr algn="l">
              <a:lnSpc>
                <a:spcPts val="2823"/>
              </a:lnSpc>
            </a:pPr>
            <a:r>
              <a:rPr lang="en-US" sz="1129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Item 2 → (0,0,1)</a:t>
            </a:r>
          </a:p>
          <a:p>
            <a:pPr algn="l">
              <a:lnSpc>
                <a:spcPts val="2823"/>
              </a:lnSpc>
            </a:pPr>
            <a:r>
              <a:rPr lang="en-US" sz="1129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Item 3 → (0,0</a:t>
            </a:r>
            <a:r>
              <a:rPr lang="en-US" sz="1129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,3)</a:t>
            </a:r>
          </a:p>
          <a:p>
            <a:pPr algn="l">
              <a:lnSpc>
                <a:spcPts val="1568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094678" y="6781495"/>
            <a:ext cx="5071932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All items satisfy:</a:t>
            </a:r>
          </a:p>
          <a:p>
            <a:pPr algn="l" marL="259080" indent="-129540" lvl="1">
              <a:lnSpc>
                <a:spcPts val="1680"/>
              </a:lnSpc>
              <a:spcBef>
                <a:spcPct val="0"/>
              </a:spcBef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oundary constraints</a:t>
            </a:r>
          </a:p>
          <a:p>
            <a:pPr algn="l" marL="259080" indent="-129540" lvl="1">
              <a:lnSpc>
                <a:spcPts val="1680"/>
              </a:lnSpc>
              <a:spcBef>
                <a:spcPct val="0"/>
              </a:spcBef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non-overlapping condition</a:t>
            </a:r>
          </a:p>
          <a:p>
            <a:pPr algn="ctr">
              <a:lnSpc>
                <a:spcPts val="16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52749" y="3287812"/>
            <a:ext cx="4227262" cy="3465270"/>
          </a:xfrm>
          <a:custGeom>
            <a:avLst/>
            <a:gdLst/>
            <a:ahLst/>
            <a:cxnLst/>
            <a:rect r="r" b="b" t="t" l="l"/>
            <a:pathLst>
              <a:path h="3465270" w="4227262">
                <a:moveTo>
                  <a:pt x="0" y="0"/>
                </a:moveTo>
                <a:lnTo>
                  <a:pt x="4227262" y="0"/>
                </a:lnTo>
                <a:lnTo>
                  <a:pt x="4227262" y="3465269"/>
                </a:lnTo>
                <a:lnTo>
                  <a:pt x="0" y="3465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44" t="-4182" r="-532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33192" y="2145925"/>
            <a:ext cx="5436175" cy="1038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3375" spc="23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Conc</a:t>
            </a:r>
            <a:r>
              <a:rPr lang="en-US" sz="3375" spc="23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lusion &amp; Future Improvements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31697" y="3740544"/>
            <a:ext cx="51673" cy="567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2025" spc="14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8405" y="3422466"/>
            <a:ext cx="1409819" cy="432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025" spc="14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Adva</a:t>
            </a:r>
            <a:r>
              <a:rPr lang="en-US" sz="2025" spc="14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ntages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4249" y="4353420"/>
            <a:ext cx="49139" cy="368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77720" y="3490848"/>
            <a:ext cx="1348145" cy="432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025" spc="14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Li</a:t>
            </a:r>
            <a:r>
              <a:rPr lang="en-US" sz="2025" spc="14">
                <a:solidFill>
                  <a:srgbClr val="EFD5FA"/>
                </a:solidFill>
                <a:latin typeface="Open Sans"/>
                <a:ea typeface="Open Sans"/>
                <a:cs typeface="Open Sans"/>
                <a:sym typeface="Open Sans"/>
              </a:rPr>
              <a:t>mitations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56999" y="4355478"/>
            <a:ext cx="41443" cy="368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1350">
                <a:solidFill>
                  <a:srgbClr val="C7CDD6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3727" y="4000267"/>
            <a:ext cx="2964120" cy="181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7302" indent="-128651" lvl="1">
              <a:lnSpc>
                <a:spcPts val="2979"/>
              </a:lnSpc>
              <a:buFont typeface="Arial"/>
              <a:buChar char="•"/>
            </a:pPr>
            <a:r>
              <a:rPr lang="en-US" sz="1191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Guarantees optimal packing</a:t>
            </a:r>
          </a:p>
          <a:p>
            <a:pPr algn="l" marL="257302" indent="-128651" lvl="1">
              <a:lnSpc>
                <a:spcPts val="2979"/>
              </a:lnSpc>
              <a:buFont typeface="Arial"/>
              <a:buChar char="•"/>
            </a:pPr>
            <a:r>
              <a:rPr lang="en-US" sz="1191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Handles 3D spatial constraints</a:t>
            </a:r>
          </a:p>
          <a:p>
            <a:pPr algn="l" marL="257302" indent="-128651" lvl="1">
              <a:lnSpc>
                <a:spcPts val="2979"/>
              </a:lnSpc>
              <a:buFont typeface="Arial"/>
              <a:buChar char="•"/>
            </a:pPr>
            <a:r>
              <a:rPr lang="en-US" sz="1191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Supports</a:t>
            </a:r>
            <a:r>
              <a:rPr lang="en-US" sz="1191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i</a:t>
            </a:r>
            <a:r>
              <a:rPr lang="en-US" sz="1191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tem rotation</a:t>
            </a:r>
          </a:p>
          <a:p>
            <a:pPr algn="l" marL="257302" indent="-128651" lvl="1">
              <a:lnSpc>
                <a:spcPts val="2979"/>
              </a:lnSpc>
              <a:buFont typeface="Arial"/>
              <a:buChar char="•"/>
            </a:pPr>
            <a:r>
              <a:rPr lang="en-US" sz="1191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Uses pruning to improve efficiency</a:t>
            </a:r>
          </a:p>
          <a:p>
            <a:pPr algn="l">
              <a:lnSpc>
                <a:spcPts val="29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955048" y="4058468"/>
            <a:ext cx="2792926" cy="139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5426" indent="-132713" lvl="1">
              <a:lnSpc>
                <a:spcPts val="3073"/>
              </a:lnSpc>
              <a:buFont typeface="Arial"/>
              <a:buChar char="•"/>
            </a:pPr>
            <a:r>
              <a:rPr lang="en-US" sz="1229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Exponential time complexity</a:t>
            </a:r>
          </a:p>
          <a:p>
            <a:pPr algn="l" marL="265426" indent="-132713" lvl="1">
              <a:lnSpc>
                <a:spcPts val="3073"/>
              </a:lnSpc>
              <a:buFont typeface="Arial"/>
              <a:buChar char="•"/>
            </a:pPr>
            <a:r>
              <a:rPr lang="en-US" sz="1229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r>
              <a:rPr lang="en-US" sz="1229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t ideal for very larg</a:t>
            </a:r>
            <a:r>
              <a:rPr lang="en-US" sz="1229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e numbers of items</a:t>
            </a:r>
          </a:p>
          <a:p>
            <a:pPr algn="l">
              <a:lnSpc>
                <a:spcPts val="170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21174" y="5765656"/>
            <a:ext cx="5392329" cy="14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EFD5FA"/>
                </a:solidFill>
                <a:latin typeface="Inter"/>
                <a:ea typeface="Inter"/>
                <a:cs typeface="Inter"/>
                <a:sym typeface="Inter"/>
              </a:rPr>
              <a:t>Future Improvements</a:t>
            </a:r>
          </a:p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Possible enhancements include: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Branch and Bound optimization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Heuristic packing algorithms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Parallel computation for faster search</a:t>
            </a:r>
          </a:p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These improvements could significantly reduce computation time for large datasets.</a:t>
            </a:r>
          </a:p>
          <a:p>
            <a:pPr algn="ctr">
              <a:lnSpc>
                <a:spcPts val="16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337525"/>
            <a:ext cx="11580669" cy="6794343"/>
          </a:xfrm>
          <a:custGeom>
            <a:avLst/>
            <a:gdLst/>
            <a:ahLst/>
            <a:cxnLst/>
            <a:rect r="r" b="b" t="t" l="l"/>
            <a:pathLst>
              <a:path h="6794343" w="11580669">
                <a:moveTo>
                  <a:pt x="0" y="0"/>
                </a:moveTo>
                <a:lnTo>
                  <a:pt x="11580669" y="0"/>
                </a:lnTo>
                <a:lnTo>
                  <a:pt x="11580669" y="6794343"/>
                </a:lnTo>
                <a:lnTo>
                  <a:pt x="0" y="6794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73" r="0" b="-6673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DAHDm6-dRm0</dc:identifier>
  <dcterms:modified xsi:type="dcterms:W3CDTF">2011-08-01T06:04:30Z</dcterms:modified>
  <cp:revision>1</cp:revision>
  <dc:title>Efficient-Suitcase-Packing-Using-Backtracking-Algorithm.pdf</dc:title>
</cp:coreProperties>
</file>